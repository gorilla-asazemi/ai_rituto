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594360"/>
            <a:ext cx="2560320" cy="274320"/>
          </a:xfrm>
          <a:prstGeom prst="rect">
            <a:avLst/>
          </a:prstGeom>
          <a:solidFill>
            <a:srgbClr val="1E293B"/>
          </a:solidFill>
          <a:ln w="12700">
            <a:solidFill>
              <a:srgbClr val="3B82F6"/>
            </a:solidFill>
            <a:prstDash val="solid"/>
          </a:ln>
        </p:spPr>
      </p:sp>
      <p:sp>
        <p:nvSpPr>
          <p:cNvPr id="3" name="Text 1"/>
          <p:cNvSpPr/>
          <p:nvPr/>
        </p:nvSpPr>
        <p:spPr>
          <a:xfrm>
            <a:off x="457200" y="594360"/>
            <a:ext cx="2560320" cy="274320"/>
          </a:xfrm>
          <a:prstGeom prst="rect">
            <a:avLst/>
          </a:prstGeom>
          <a:noFill/>
          <a:ln/>
        </p:spPr>
        <p:txBody>
          <a:bodyPr wrap="square" rtlCol="0" anchor="ctr"/>
          <a:lstStyle/>
          <a:p>
            <a:pPr algn="ctr" indent="0" marL="0">
              <a:buNone/>
            </a:pPr>
            <a:r>
              <a:rPr lang="en-US" sz="900" b="1" dirty="0">
                <a:solidFill>
                  <a:srgbClr val="93C5FD"/>
                </a:solidFill>
                <a:latin typeface="Meiryo" pitchFamily="34" charset="0"/>
                <a:ea typeface="Meiryo" pitchFamily="34" charset="-122"/>
                <a:cs typeface="Meiryo" pitchFamily="34" charset="-120"/>
              </a:rPr>
              <a:t>PRESENTATION DIRECTION</a:t>
            </a:r>
            <a:endParaRPr lang="en-US" sz="900" dirty="0"/>
          </a:p>
        </p:txBody>
      </p:sp>
      <p:sp>
        <p:nvSpPr>
          <p:cNvPr id="4" name="Text 2"/>
          <p:cNvSpPr/>
          <p:nvPr/>
        </p:nvSpPr>
        <p:spPr>
          <a:xfrm>
            <a:off x="457200" y="1051560"/>
            <a:ext cx="4297680" cy="594360"/>
          </a:xfrm>
          <a:prstGeom prst="rect">
            <a:avLst/>
          </a:prstGeom>
          <a:noFill/>
          <a:ln/>
        </p:spPr>
        <p:txBody>
          <a:bodyPr wrap="square" rtlCol="0" anchor="ctr"/>
          <a:lstStyle/>
          <a:p>
            <a:pPr indent="0" marL="0">
              <a:buNone/>
            </a:pPr>
            <a:r>
              <a:rPr lang="en-US" sz="2300" b="1" dirty="0">
                <a:solidFill>
                  <a:srgbClr val="FFFFFF"/>
                </a:solidFill>
                <a:latin typeface="Meiryo" pitchFamily="34" charset="0"/>
                <a:ea typeface="Meiryo" pitchFamily="34" charset="-122"/>
                <a:cs typeface="Meiryo" pitchFamily="34" charset="-120"/>
              </a:rPr>
              <a:t>話す前に、勝負を決める。</a:t>
            </a:r>
            <a:endParaRPr lang="en-US" sz="2300" dirty="0"/>
          </a:p>
        </p:txBody>
      </p:sp>
      <p:sp>
        <p:nvSpPr>
          <p:cNvPr id="5" name="Text 3"/>
          <p:cNvSpPr/>
          <p:nvPr/>
        </p:nvSpPr>
        <p:spPr>
          <a:xfrm>
            <a:off x="457200" y="1691640"/>
            <a:ext cx="4297680" cy="731520"/>
          </a:xfrm>
          <a:prstGeom prst="rect">
            <a:avLst/>
          </a:prstGeom>
          <a:noFill/>
          <a:ln/>
        </p:spPr>
        <p:txBody>
          <a:bodyPr wrap="square" rtlCol="0" anchor="ctr"/>
          <a:lstStyle/>
          <a:p>
            <a:pPr indent="0" marL="0">
              <a:lnSpc>
                <a:spcPts val="2200"/>
              </a:lnSpc>
              <a:buNone/>
            </a:pPr>
            <a:r>
              <a:rPr lang="en-US" sz="1600" b="1" dirty="0">
                <a:solidFill>
                  <a:srgbClr val="94A3B8"/>
                </a:solidFill>
                <a:latin typeface="Meiryo" pitchFamily="34" charset="0"/>
                <a:ea typeface="Meiryo" pitchFamily="34" charset="-122"/>
                <a:cs typeface="Meiryo" pitchFamily="34" charset="-120"/>
              </a:rPr>
              <a:t>伝わらない想いを</a:t>
            </a:r>
            <a:endParaRPr lang="en-US" sz="1600" dirty="0"/>
          </a:p>
          <a:p>
            <a:pPr indent="0" marL="0">
              <a:lnSpc>
                <a:spcPts val="2200"/>
              </a:lnSpc>
              <a:buNone/>
            </a:pPr>
            <a:r>
              <a:rPr lang="en-US" sz="1600" b="1" dirty="0">
                <a:solidFill>
                  <a:srgbClr val="94A3B8"/>
                </a:solidFill>
                <a:latin typeface="Meiryo" pitchFamily="34" charset="0"/>
                <a:ea typeface="Meiryo" pitchFamily="34" charset="-122"/>
                <a:cs typeface="Meiryo" pitchFamily="34" charset="-120"/>
              </a:rPr>
              <a:t>「　</a:t>
            </a:r>
            <a:endParaRPr lang="en-US" sz="1600" dirty="0"/>
          </a:p>
          <a:p>
            <a:pPr indent="0" marL="0">
              <a:lnSpc>
                <a:spcPts val="2200"/>
              </a:lnSpc>
              <a:buNone/>
            </a:pPr>
            <a:r>
              <a:rPr lang="en-US" sz="1600" b="1" dirty="0">
                <a:solidFill>
                  <a:srgbClr val="F59E0B"/>
                </a:solidFill>
                <a:latin typeface="Meiryo" pitchFamily="34" charset="0"/>
                <a:ea typeface="Meiryo" pitchFamily="34" charset="-122"/>
                <a:cs typeface="Meiryo" pitchFamily="34" charset="-120"/>
              </a:rPr>
              <a:t>選ばれるシナリオ</a:t>
            </a:r>
            <a:pPr indent="0" marL="0">
              <a:lnSpc>
                <a:spcPts val="2200"/>
              </a:lnSpc>
              <a:buNone/>
            </a:pPr>
            <a:r>
              <a:rPr lang="en-US" sz="1600" b="1" dirty="0">
                <a:solidFill>
                  <a:srgbClr val="94A3B8"/>
                </a:solidFill>
                <a:latin typeface="Meiryo" pitchFamily="34" charset="0"/>
                <a:ea typeface="Meiryo" pitchFamily="34" charset="-122"/>
                <a:cs typeface="Meiryo" pitchFamily="34" charset="-120"/>
              </a:rPr>
              <a:t>　」へ再生する。</a:t>
            </a:r>
            <a:endParaRPr lang="en-US" sz="1600" dirty="0"/>
          </a:p>
        </p:txBody>
      </p:sp>
      <p:sp>
        <p:nvSpPr>
          <p:cNvPr id="6" name="Shape 4"/>
          <p:cNvSpPr/>
          <p:nvPr/>
        </p:nvSpPr>
        <p:spPr>
          <a:xfrm>
            <a:off x="457200" y="2651760"/>
            <a:ext cx="1371600" cy="36576"/>
          </a:xfrm>
          <a:prstGeom prst="rect">
            <a:avLst/>
          </a:prstGeom>
          <a:solidFill>
            <a:srgbClr val="3B82F6"/>
          </a:solidFill>
          <a:ln/>
        </p:spPr>
      </p:sp>
      <p:sp>
        <p:nvSpPr>
          <p:cNvPr id="7" name="Shape 5"/>
          <p:cNvSpPr/>
          <p:nvPr/>
        </p:nvSpPr>
        <p:spPr>
          <a:xfrm>
            <a:off x="457200" y="2926080"/>
            <a:ext cx="4114800" cy="1691640"/>
          </a:xfrm>
          <a:prstGeom prst="rect">
            <a:avLst/>
          </a:prstGeom>
          <a:solidFill>
            <a:srgbClr val="0F172A"/>
          </a:solidFill>
          <a:ln w="12700">
            <a:solidFill>
              <a:srgbClr val="334155"/>
            </a:solidFill>
            <a:prstDash val="solid"/>
          </a:ln>
        </p:spPr>
      </p:sp>
      <p:sp>
        <p:nvSpPr>
          <p:cNvPr id="8" name="Text 6"/>
          <p:cNvSpPr/>
          <p:nvPr/>
        </p:nvSpPr>
        <p:spPr>
          <a:xfrm>
            <a:off x="640080" y="3063240"/>
            <a:ext cx="3749040" cy="228600"/>
          </a:xfrm>
          <a:prstGeom prst="rect">
            <a:avLst/>
          </a:prstGeom>
          <a:noFill/>
          <a:ln/>
        </p:spPr>
        <p:txBody>
          <a:bodyPr wrap="square" rtlCol="0" anchor="ctr"/>
          <a:lstStyle/>
          <a:p>
            <a:pPr indent="0" marL="0">
              <a:buNone/>
            </a:pPr>
            <a:r>
              <a:rPr lang="en-US" sz="950" dirty="0">
                <a:solidFill>
                  <a:srgbClr val="94A3B8"/>
                </a:solidFill>
                <a:latin typeface="Meiryo" pitchFamily="34" charset="0"/>
                <a:ea typeface="Meiryo" pitchFamily="34" charset="-122"/>
                <a:cs typeface="Meiryo" pitchFamily="34" charset="-120"/>
              </a:rPr>
              <a:t>プレゼン演出家 ／ 元シニア経営コンサルタント</a:t>
            </a:r>
            <a:endParaRPr lang="en-US" sz="950" dirty="0"/>
          </a:p>
        </p:txBody>
      </p:sp>
      <p:sp>
        <p:nvSpPr>
          <p:cNvPr id="9" name="Text 7"/>
          <p:cNvSpPr/>
          <p:nvPr/>
        </p:nvSpPr>
        <p:spPr>
          <a:xfrm>
            <a:off x="640080" y="3337560"/>
            <a:ext cx="3749040" cy="457200"/>
          </a:xfrm>
          <a:prstGeom prst="rect">
            <a:avLst/>
          </a:prstGeom>
          <a:noFill/>
          <a:ln/>
        </p:spPr>
        <p:txBody>
          <a:bodyPr wrap="square" rtlCol="0" anchor="ctr"/>
          <a:lstStyle/>
          <a:p>
            <a:pPr indent="0" marL="0">
              <a:buNone/>
            </a:pPr>
            <a:r>
              <a:rPr lang="en-US" sz="2000" b="1" dirty="0">
                <a:solidFill>
                  <a:srgbClr val="FFFFFF"/>
                </a:solidFill>
                <a:latin typeface="Meiryo" pitchFamily="34" charset="0"/>
                <a:ea typeface="Meiryo" pitchFamily="34" charset="-122"/>
                <a:cs typeface="Meiryo" pitchFamily="34" charset="-120"/>
              </a:rPr>
              <a:t>西川 佳孝</a:t>
            </a:r>
            <a:endParaRPr lang="en-US" sz="2000" dirty="0"/>
          </a:p>
        </p:txBody>
      </p:sp>
      <p:sp>
        <p:nvSpPr>
          <p:cNvPr id="10" name="Text 8"/>
          <p:cNvSpPr/>
          <p:nvPr/>
        </p:nvSpPr>
        <p:spPr>
          <a:xfrm>
            <a:off x="640080" y="3886200"/>
            <a:ext cx="3749040" cy="594360"/>
          </a:xfrm>
          <a:prstGeom prst="rect">
            <a:avLst/>
          </a:prstGeom>
          <a:noFill/>
          <a:ln/>
        </p:spPr>
        <p:txBody>
          <a:bodyPr wrap="square" rtlCol="0" anchor="ctr"/>
          <a:lstStyle/>
          <a:p>
            <a:pPr indent="0" marL="0">
              <a:lnSpc>
                <a:spcPts val="1300"/>
              </a:lnSpc>
              <a:buNone/>
            </a:pPr>
            <a:r>
              <a:rPr lang="en-US" sz="900" dirty="0">
                <a:solidFill>
                  <a:srgbClr val="64748B"/>
                </a:solidFill>
                <a:latin typeface="Meiryo" pitchFamily="34" charset="0"/>
                <a:ea typeface="Meiryo" pitchFamily="34" charset="-122"/>
                <a:cs typeface="Meiryo" pitchFamily="34" charset="-120"/>
              </a:rPr>
              <a:t>累計契約コンサルフィー5億円超の実戦と、ストアカ★4.9が導き出す「選ばれる構造」</a:t>
            </a:r>
            <a:endParaRPr lang="en-US" sz="900" dirty="0"/>
          </a:p>
        </p:txBody>
      </p:sp>
      <p:pic>
        <p:nvPicPr>
          <p:cNvPr id="11" name="Image 0" descr="C:\Users\banan\OneDrive\OneDrive\Antigravity西川佳孝_＠ゴリラ\AI_rituto\成功例を渡せ\images\deck_cover_art_1787442459615.jpg">    </p:cNvPr>
          <p:cNvPicPr>
            <a:picLocks noChangeAspect="1"/>
          </p:cNvPicPr>
          <p:nvPr/>
        </p:nvPicPr>
        <p:blipFill>
          <a:blip r:embed="rId1"/>
          <a:stretch>
            <a:fillRect/>
          </a:stretch>
        </p:blipFill>
        <p:spPr>
          <a:xfrm>
            <a:off x="4754880" y="594360"/>
            <a:ext cx="3931920" cy="402336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EFF6FF"/>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PROBLEM STATEMENT</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0F172A"/>
                </a:solidFill>
                <a:latin typeface="Meiryo" pitchFamily="34" charset="0"/>
                <a:ea typeface="Meiryo" pitchFamily="34" charset="-122"/>
                <a:cs typeface="Meiryo" pitchFamily="34" charset="-120"/>
              </a:rPr>
              <a:t>なぜ、あなたの想いは届かないのか？</a:t>
            </a:r>
            <a:endParaRPr lang="en-US" sz="1500" dirty="0"/>
          </a:p>
        </p:txBody>
      </p:sp>
      <p:sp>
        <p:nvSpPr>
          <p:cNvPr id="5" name="Text 3"/>
          <p:cNvSpPr/>
          <p:nvPr/>
        </p:nvSpPr>
        <p:spPr>
          <a:xfrm>
            <a:off x="457200" y="932688"/>
            <a:ext cx="8229600" cy="237744"/>
          </a:xfrm>
          <a:prstGeom prst="rect">
            <a:avLst/>
          </a:prstGeom>
          <a:noFill/>
          <a:ln/>
        </p:spPr>
        <p:txBody>
          <a:bodyPr wrap="square" rtlCol="0" anchor="ctr"/>
          <a:lstStyle/>
          <a:p>
            <a:pPr indent="0" marL="0">
              <a:buNone/>
            </a:pPr>
            <a:r>
              <a:rPr lang="en-US" sz="950" b="1" dirty="0">
                <a:solidFill>
                  <a:srgbClr val="3B82F6"/>
                </a:solidFill>
                <a:latin typeface="Meiryo" pitchFamily="34" charset="0"/>
                <a:ea typeface="Meiryo" pitchFamily="34" charset="-122"/>
                <a:cs typeface="Meiryo" pitchFamily="34" charset="-120"/>
              </a:rPr>
              <a:t>伝わらない最大の原因は、話し方ではなく「　話す順番（シナリオ）　」</a:t>
            </a:r>
            <a:endParaRPr lang="en-US" sz="950" dirty="0"/>
          </a:p>
        </p:txBody>
      </p:sp>
      <p:pic>
        <p:nvPicPr>
          <p:cNvPr id="6" name="Image 0" descr="C:\Users\banan\OneDrive\OneDrive\Antigravity西川佳孝_＠ゴリラ\AI_rituto\成功例を渡せ\images\untangle_complexity_1787442553503.jpg">    </p:cNvPr>
          <p:cNvPicPr>
            <a:picLocks noChangeAspect="1"/>
          </p:cNvPicPr>
          <p:nvPr/>
        </p:nvPicPr>
        <p:blipFill>
          <a:blip r:embed="rId1"/>
          <a:stretch>
            <a:fillRect/>
          </a:stretch>
        </p:blipFill>
        <p:spPr>
          <a:xfrm>
            <a:off x="457200" y="1234440"/>
            <a:ext cx="8229600" cy="1371600"/>
          </a:xfrm>
          <a:prstGeom prst="ellipse">
            <a:avLst/>
          </a:prstGeom>
        </p:spPr>
      </p:pic>
      <p:sp>
        <p:nvSpPr>
          <p:cNvPr id="7" name="Shape 4"/>
          <p:cNvSpPr/>
          <p:nvPr/>
        </p:nvSpPr>
        <p:spPr>
          <a:xfrm>
            <a:off x="457200" y="2743200"/>
            <a:ext cx="2596896" cy="1965960"/>
          </a:xfrm>
          <a:prstGeom prst="rect">
            <a:avLst/>
          </a:prstGeom>
          <a:solidFill>
            <a:srgbClr val="FFFFFF"/>
          </a:solidFill>
          <a:ln w="12700">
            <a:solidFill>
              <a:srgbClr val="E2E8F0"/>
            </a:solidFill>
            <a:prstDash val="solid"/>
          </a:ln>
        </p:spPr>
      </p:sp>
      <p:sp>
        <p:nvSpPr>
          <p:cNvPr id="8" name="Shape 5"/>
          <p:cNvSpPr/>
          <p:nvPr/>
        </p:nvSpPr>
        <p:spPr>
          <a:xfrm>
            <a:off x="457200" y="2743200"/>
            <a:ext cx="2596896" cy="54864"/>
          </a:xfrm>
          <a:prstGeom prst="rect">
            <a:avLst/>
          </a:prstGeom>
          <a:solidFill>
            <a:srgbClr val="EF4444"/>
          </a:solidFill>
          <a:ln/>
        </p:spPr>
      </p:sp>
      <p:sp>
        <p:nvSpPr>
          <p:cNvPr id="9" name="Text 6"/>
          <p:cNvSpPr/>
          <p:nvPr/>
        </p:nvSpPr>
        <p:spPr>
          <a:xfrm>
            <a:off x="594360" y="2880360"/>
            <a:ext cx="2322576" cy="274320"/>
          </a:xfrm>
          <a:prstGeom prst="rect">
            <a:avLst/>
          </a:prstGeom>
          <a:noFill/>
          <a:ln/>
        </p:spPr>
        <p:txBody>
          <a:bodyPr wrap="square" rtlCol="0" anchor="ctr"/>
          <a:lstStyle/>
          <a:p>
            <a:pPr indent="0" marL="0">
              <a:buNone/>
            </a:pPr>
            <a:r>
              <a:rPr lang="en-US" sz="1100" b="1" dirty="0">
                <a:solidFill>
                  <a:srgbClr val="0F172A"/>
                </a:solidFill>
                <a:latin typeface="Meiryo" pitchFamily="34" charset="0"/>
                <a:ea typeface="Meiryo" pitchFamily="34" charset="-122"/>
                <a:cs typeface="Meiryo" pitchFamily="34" charset="-120"/>
              </a:rPr>
              <a:t>01 ｜ 知識の押し売り</a:t>
            </a:r>
            <a:endParaRPr lang="en-US" sz="1100" dirty="0"/>
          </a:p>
        </p:txBody>
      </p:sp>
      <p:sp>
        <p:nvSpPr>
          <p:cNvPr id="10" name="Text 7"/>
          <p:cNvSpPr/>
          <p:nvPr/>
        </p:nvSpPr>
        <p:spPr>
          <a:xfrm>
            <a:off x="594360" y="3200400"/>
            <a:ext cx="2322576" cy="1371600"/>
          </a:xfrm>
          <a:prstGeom prst="rect">
            <a:avLst/>
          </a:prstGeom>
          <a:noFill/>
          <a:ln/>
        </p:spPr>
        <p:txBody>
          <a:bodyPr wrap="square" rtlCol="0" anchor="ctr"/>
          <a:lstStyle/>
          <a:p>
            <a:pPr indent="0" marL="0">
              <a:lnSpc>
                <a:spcPts val="1400"/>
              </a:lnSpc>
              <a:buNone/>
            </a:pPr>
            <a:r>
              <a:rPr lang="en-US" sz="900" dirty="0">
                <a:solidFill>
                  <a:srgbClr val="475569"/>
                </a:solidFill>
                <a:latin typeface="Meiryo" pitchFamily="34" charset="0"/>
                <a:ea typeface="Meiryo" pitchFamily="34" charset="-122"/>
                <a:cs typeface="Meiryo" pitchFamily="34" charset="-120"/>
              </a:rPr>
              <a:t>専門性を伝えようとするあまり、相手が求めているものが見えなくなる。</a:t>
            </a:r>
            <a:endParaRPr lang="en-US" sz="900" dirty="0"/>
          </a:p>
        </p:txBody>
      </p:sp>
      <p:sp>
        <p:nvSpPr>
          <p:cNvPr id="11" name="Shape 8"/>
          <p:cNvSpPr/>
          <p:nvPr/>
        </p:nvSpPr>
        <p:spPr>
          <a:xfrm>
            <a:off x="3273552" y="2743200"/>
            <a:ext cx="2596896" cy="1965960"/>
          </a:xfrm>
          <a:prstGeom prst="rect">
            <a:avLst/>
          </a:prstGeom>
          <a:solidFill>
            <a:srgbClr val="FFFFFF"/>
          </a:solidFill>
          <a:ln w="12700">
            <a:solidFill>
              <a:srgbClr val="E2E8F0"/>
            </a:solidFill>
            <a:prstDash val="solid"/>
          </a:ln>
        </p:spPr>
      </p:sp>
      <p:sp>
        <p:nvSpPr>
          <p:cNvPr id="12" name="Shape 9"/>
          <p:cNvSpPr/>
          <p:nvPr/>
        </p:nvSpPr>
        <p:spPr>
          <a:xfrm>
            <a:off x="3273552" y="2743200"/>
            <a:ext cx="2596896" cy="54864"/>
          </a:xfrm>
          <a:prstGeom prst="rect">
            <a:avLst/>
          </a:prstGeom>
          <a:solidFill>
            <a:srgbClr val="D97706"/>
          </a:solidFill>
          <a:ln/>
        </p:spPr>
      </p:sp>
      <p:sp>
        <p:nvSpPr>
          <p:cNvPr id="13" name="Text 10"/>
          <p:cNvSpPr/>
          <p:nvPr/>
        </p:nvSpPr>
        <p:spPr>
          <a:xfrm>
            <a:off x="3410712" y="2880360"/>
            <a:ext cx="2322576" cy="274320"/>
          </a:xfrm>
          <a:prstGeom prst="rect">
            <a:avLst/>
          </a:prstGeom>
          <a:noFill/>
          <a:ln/>
        </p:spPr>
        <p:txBody>
          <a:bodyPr wrap="square" rtlCol="0" anchor="ctr"/>
          <a:lstStyle/>
          <a:p>
            <a:pPr indent="0" marL="0">
              <a:buNone/>
            </a:pPr>
            <a:r>
              <a:rPr lang="en-US" sz="1100" b="1" dirty="0">
                <a:solidFill>
                  <a:srgbClr val="0F172A"/>
                </a:solidFill>
                <a:latin typeface="Meiryo" pitchFamily="34" charset="0"/>
                <a:ea typeface="Meiryo" pitchFamily="34" charset="-122"/>
                <a:cs typeface="Meiryo" pitchFamily="34" charset="-120"/>
              </a:rPr>
              <a:t>02 ｜ 座学の迷子</a:t>
            </a:r>
            <a:endParaRPr lang="en-US" sz="1100" dirty="0"/>
          </a:p>
        </p:txBody>
      </p:sp>
      <p:sp>
        <p:nvSpPr>
          <p:cNvPr id="14" name="Text 11"/>
          <p:cNvSpPr/>
          <p:nvPr/>
        </p:nvSpPr>
        <p:spPr>
          <a:xfrm>
            <a:off x="3410712" y="3200400"/>
            <a:ext cx="2322576" cy="1371600"/>
          </a:xfrm>
          <a:prstGeom prst="rect">
            <a:avLst/>
          </a:prstGeom>
          <a:noFill/>
          <a:ln/>
        </p:spPr>
        <p:txBody>
          <a:bodyPr wrap="square" rtlCol="0" anchor="ctr"/>
          <a:lstStyle/>
          <a:p>
            <a:pPr indent="0" marL="0">
              <a:lnSpc>
                <a:spcPts val="1400"/>
              </a:lnSpc>
              <a:buNone/>
            </a:pPr>
            <a:r>
              <a:rPr lang="en-US" sz="900" dirty="0">
                <a:solidFill>
                  <a:srgbClr val="475569"/>
                </a:solidFill>
                <a:latin typeface="Meiryo" pitchFamily="34" charset="0"/>
                <a:ea typeface="Meiryo" pitchFamily="34" charset="-122"/>
                <a:cs typeface="Meiryo" pitchFamily="34" charset="-120"/>
              </a:rPr>
              <a:t>実技や想いはあるのに、いざ説明になると「　何をどう構成すべきか　」分からなくなる。</a:t>
            </a:r>
            <a:endParaRPr lang="en-US" sz="900" dirty="0"/>
          </a:p>
        </p:txBody>
      </p:sp>
      <p:sp>
        <p:nvSpPr>
          <p:cNvPr id="15" name="Shape 12"/>
          <p:cNvSpPr/>
          <p:nvPr/>
        </p:nvSpPr>
        <p:spPr>
          <a:xfrm>
            <a:off x="6089904" y="2743200"/>
            <a:ext cx="2596896" cy="1965960"/>
          </a:xfrm>
          <a:prstGeom prst="rect">
            <a:avLst/>
          </a:prstGeom>
          <a:solidFill>
            <a:srgbClr val="FFFFFF"/>
          </a:solidFill>
          <a:ln w="12700">
            <a:solidFill>
              <a:srgbClr val="E2E8F0"/>
            </a:solidFill>
            <a:prstDash val="solid"/>
          </a:ln>
        </p:spPr>
      </p:sp>
      <p:sp>
        <p:nvSpPr>
          <p:cNvPr id="16" name="Shape 13"/>
          <p:cNvSpPr/>
          <p:nvPr/>
        </p:nvSpPr>
        <p:spPr>
          <a:xfrm>
            <a:off x="6089904" y="2743200"/>
            <a:ext cx="2596896" cy="54864"/>
          </a:xfrm>
          <a:prstGeom prst="rect">
            <a:avLst/>
          </a:prstGeom>
          <a:solidFill>
            <a:srgbClr val="8B5CF6"/>
          </a:solidFill>
          <a:ln/>
        </p:spPr>
      </p:sp>
      <p:sp>
        <p:nvSpPr>
          <p:cNvPr id="17" name="Text 14"/>
          <p:cNvSpPr/>
          <p:nvPr/>
        </p:nvSpPr>
        <p:spPr>
          <a:xfrm>
            <a:off x="6227064" y="2880360"/>
            <a:ext cx="2322576" cy="274320"/>
          </a:xfrm>
          <a:prstGeom prst="rect">
            <a:avLst/>
          </a:prstGeom>
          <a:noFill/>
          <a:ln/>
        </p:spPr>
        <p:txBody>
          <a:bodyPr wrap="square" rtlCol="0" anchor="ctr"/>
          <a:lstStyle/>
          <a:p>
            <a:pPr indent="0" marL="0">
              <a:buNone/>
            </a:pPr>
            <a:r>
              <a:rPr lang="en-US" sz="1100" b="1" dirty="0">
                <a:solidFill>
                  <a:srgbClr val="0F172A"/>
                </a:solidFill>
                <a:latin typeface="Meiryo" pitchFamily="34" charset="0"/>
                <a:ea typeface="Meiryo" pitchFamily="34" charset="-122"/>
                <a:cs typeface="Meiryo" pitchFamily="34" charset="-120"/>
              </a:rPr>
              <a:t>03 ｜ 自分ファースト</a:t>
            </a:r>
            <a:endParaRPr lang="en-US" sz="1100" dirty="0"/>
          </a:p>
        </p:txBody>
      </p:sp>
      <p:sp>
        <p:nvSpPr>
          <p:cNvPr id="18" name="Text 15"/>
          <p:cNvSpPr/>
          <p:nvPr/>
        </p:nvSpPr>
        <p:spPr>
          <a:xfrm>
            <a:off x="6227064" y="3200400"/>
            <a:ext cx="2322576" cy="1371600"/>
          </a:xfrm>
          <a:prstGeom prst="rect">
            <a:avLst/>
          </a:prstGeom>
          <a:noFill/>
          <a:ln/>
        </p:spPr>
        <p:txBody>
          <a:bodyPr wrap="square" rtlCol="0" anchor="ctr"/>
          <a:lstStyle/>
          <a:p>
            <a:pPr indent="0" marL="0">
              <a:lnSpc>
                <a:spcPts val="1400"/>
              </a:lnSpc>
              <a:buNone/>
            </a:pPr>
            <a:r>
              <a:rPr lang="en-US" sz="900" dirty="0">
                <a:solidFill>
                  <a:srgbClr val="475569"/>
                </a:solidFill>
                <a:latin typeface="Meiryo" pitchFamily="34" charset="0"/>
                <a:ea typeface="Meiryo" pitchFamily="34" charset="-122"/>
                <a:cs typeface="Meiryo" pitchFamily="34" charset="-120"/>
              </a:rPr>
              <a:t>相手の興味がない自己紹介から入り、相手の心が離れてしまう。</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1E293B"/>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60A5FA"/>
                </a:solidFill>
                <a:latin typeface="Meiryo" pitchFamily="34" charset="0"/>
                <a:ea typeface="Meiryo" pitchFamily="34" charset="-122"/>
                <a:cs typeface="Meiryo" pitchFamily="34" charset="-120"/>
              </a:rPr>
              <a:t>THE CORE PHILOSOPHY</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中身を変えなくても「　伝える順番　」を整えるだけで、評価も成果も跳ね上がる。</a:t>
            </a:r>
            <a:endParaRPr lang="en-US" sz="1500" dirty="0"/>
          </a:p>
        </p:txBody>
      </p:sp>
      <p:sp>
        <p:nvSpPr>
          <p:cNvPr id="5" name="Shape 3"/>
          <p:cNvSpPr/>
          <p:nvPr/>
        </p:nvSpPr>
        <p:spPr>
          <a:xfrm>
            <a:off x="457200" y="1280160"/>
            <a:ext cx="4389120" cy="1554480"/>
          </a:xfrm>
          <a:prstGeom prst="rect">
            <a:avLst/>
          </a:prstGeom>
          <a:solidFill>
            <a:srgbClr val="1E293B"/>
          </a:solidFill>
          <a:ln w="19050">
            <a:solidFill>
              <a:srgbClr val="3B82F6"/>
            </a:solidFill>
            <a:prstDash val="solid"/>
          </a:ln>
        </p:spPr>
      </p:sp>
      <p:sp>
        <p:nvSpPr>
          <p:cNvPr id="6" name="Text 4"/>
          <p:cNvSpPr/>
          <p:nvPr/>
        </p:nvSpPr>
        <p:spPr>
          <a:xfrm>
            <a:off x="640080" y="1371600"/>
            <a:ext cx="4023360" cy="274320"/>
          </a:xfrm>
          <a:prstGeom prst="rect">
            <a:avLst/>
          </a:prstGeom>
          <a:noFill/>
          <a:ln/>
        </p:spPr>
        <p:txBody>
          <a:bodyPr wrap="square" rtlCol="0" anchor="ctr"/>
          <a:lstStyle/>
          <a:p>
            <a:pPr indent="0" marL="0">
              <a:buNone/>
            </a:pPr>
            <a:r>
              <a:rPr lang="en-US" sz="1150" b="1" dirty="0">
                <a:solidFill>
                  <a:srgbClr val="60A5FA"/>
                </a:solidFill>
                <a:latin typeface="Meiryo" pitchFamily="34" charset="0"/>
                <a:ea typeface="Meiryo" pitchFamily="34" charset="-122"/>
                <a:cs typeface="Meiryo" pitchFamily="34" charset="-120"/>
              </a:rPr>
              <a:t>CORE 01 ｜ シナリオ9割</a:t>
            </a:r>
            <a:endParaRPr lang="en-US" sz="1150" dirty="0"/>
          </a:p>
        </p:txBody>
      </p:sp>
      <p:sp>
        <p:nvSpPr>
          <p:cNvPr id="7" name="Text 5"/>
          <p:cNvSpPr/>
          <p:nvPr/>
        </p:nvSpPr>
        <p:spPr>
          <a:xfrm>
            <a:off x="640080" y="1691640"/>
            <a:ext cx="4023360" cy="1005840"/>
          </a:xfrm>
          <a:prstGeom prst="rect">
            <a:avLst/>
          </a:prstGeom>
          <a:noFill/>
          <a:ln/>
        </p:spPr>
        <p:txBody>
          <a:bodyPr wrap="square" rtlCol="0" anchor="ctr"/>
          <a:lstStyle/>
          <a:p>
            <a:pPr indent="0" marL="0">
              <a:lnSpc>
                <a:spcPts val="1400"/>
              </a:lnSpc>
              <a:buNone/>
            </a:pPr>
            <a:r>
              <a:rPr lang="en-US" sz="950" dirty="0">
                <a:solidFill>
                  <a:srgbClr val="CBD5E1"/>
                </a:solidFill>
                <a:latin typeface="Meiryo" pitchFamily="34" charset="0"/>
                <a:ea typeface="Meiryo" pitchFamily="34" charset="-122"/>
                <a:cs typeface="Meiryo" pitchFamily="34" charset="-120"/>
              </a:rPr>
              <a:t>アドリブトーク、派手なスライド装飾は枝葉。</a:t>
            </a:r>
            <a:endParaRPr lang="en-US" sz="950" dirty="0"/>
          </a:p>
          <a:p>
            <a:pPr indent="0" marL="0">
              <a:lnSpc>
                <a:spcPts val="1400"/>
              </a:lnSpc>
              <a:buNone/>
            </a:pPr>
            <a:r>
              <a:rPr lang="en-US" sz="950" dirty="0">
                <a:solidFill>
                  <a:srgbClr val="CBD5E1"/>
                </a:solidFill>
                <a:latin typeface="Meiryo" pitchFamily="34" charset="0"/>
                <a:ea typeface="Meiryo" pitchFamily="34" charset="-122"/>
                <a:cs typeface="Meiryo" pitchFamily="34" charset="-120"/>
              </a:rPr>
              <a:t>成果を決めるのは「　何を、どの順番で話すか　」の緻密な設計図。</a:t>
            </a:r>
            <a:endParaRPr lang="en-US" sz="950" dirty="0"/>
          </a:p>
        </p:txBody>
      </p:sp>
      <p:sp>
        <p:nvSpPr>
          <p:cNvPr id="8" name="Shape 6"/>
          <p:cNvSpPr/>
          <p:nvPr/>
        </p:nvSpPr>
        <p:spPr>
          <a:xfrm>
            <a:off x="457200" y="2971800"/>
            <a:ext cx="4389120" cy="1554480"/>
          </a:xfrm>
          <a:prstGeom prst="rect">
            <a:avLst/>
          </a:prstGeom>
          <a:solidFill>
            <a:srgbClr val="1E293B"/>
          </a:solidFill>
          <a:ln w="19050">
            <a:solidFill>
              <a:srgbClr val="F59E0B"/>
            </a:solidFill>
            <a:prstDash val="solid"/>
          </a:ln>
        </p:spPr>
      </p:sp>
      <p:sp>
        <p:nvSpPr>
          <p:cNvPr id="9" name="Text 7"/>
          <p:cNvSpPr/>
          <p:nvPr/>
        </p:nvSpPr>
        <p:spPr>
          <a:xfrm>
            <a:off x="640080" y="3063240"/>
            <a:ext cx="4023360" cy="274320"/>
          </a:xfrm>
          <a:prstGeom prst="rect">
            <a:avLst/>
          </a:prstGeom>
          <a:noFill/>
          <a:ln/>
        </p:spPr>
        <p:txBody>
          <a:bodyPr wrap="square" rtlCol="0" anchor="ctr"/>
          <a:lstStyle/>
          <a:p>
            <a:pPr indent="0" marL="0">
              <a:buNone/>
            </a:pPr>
            <a:r>
              <a:rPr lang="en-US" sz="1150" b="1" dirty="0">
                <a:solidFill>
                  <a:srgbClr val="F59E0B"/>
                </a:solidFill>
                <a:latin typeface="Meiryo" pitchFamily="34" charset="0"/>
                <a:ea typeface="Meiryo" pitchFamily="34" charset="-122"/>
                <a:cs typeface="Meiryo" pitchFamily="34" charset="-120"/>
              </a:rPr>
              <a:t>CORE 02 ｜ 結論ファースト</a:t>
            </a:r>
            <a:endParaRPr lang="en-US" sz="1150" dirty="0"/>
          </a:p>
        </p:txBody>
      </p:sp>
      <p:sp>
        <p:nvSpPr>
          <p:cNvPr id="10" name="Text 8"/>
          <p:cNvSpPr/>
          <p:nvPr/>
        </p:nvSpPr>
        <p:spPr>
          <a:xfrm>
            <a:off x="640080" y="3383280"/>
            <a:ext cx="4023360" cy="1005840"/>
          </a:xfrm>
          <a:prstGeom prst="rect">
            <a:avLst/>
          </a:prstGeom>
          <a:noFill/>
          <a:ln/>
        </p:spPr>
        <p:txBody>
          <a:bodyPr wrap="square" rtlCol="0" anchor="ctr"/>
          <a:lstStyle/>
          <a:p>
            <a:pPr indent="0" marL="0">
              <a:lnSpc>
                <a:spcPts val="1400"/>
              </a:lnSpc>
              <a:buNone/>
            </a:pPr>
            <a:r>
              <a:rPr lang="en-US" sz="950" dirty="0">
                <a:solidFill>
                  <a:srgbClr val="CBD5E1"/>
                </a:solidFill>
                <a:latin typeface="Meiryo" pitchFamily="34" charset="0"/>
                <a:ea typeface="Meiryo" pitchFamily="34" charset="-122"/>
                <a:cs typeface="Meiryo" pitchFamily="34" charset="-120"/>
              </a:rPr>
              <a:t>「　自分が言いたいこと　」ではなく、</a:t>
            </a:r>
            <a:endParaRPr lang="en-US" sz="950" dirty="0"/>
          </a:p>
          <a:p>
            <a:pPr indent="0" marL="0">
              <a:lnSpc>
                <a:spcPts val="1400"/>
              </a:lnSpc>
              <a:buNone/>
            </a:pPr>
            <a:r>
              <a:rPr lang="en-US" sz="950" dirty="0">
                <a:solidFill>
                  <a:srgbClr val="CBD5E1"/>
                </a:solidFill>
                <a:latin typeface="Meiryo" pitchFamily="34" charset="0"/>
                <a:ea typeface="Meiryo" pitchFamily="34" charset="-122"/>
                <a:cs typeface="Meiryo" pitchFamily="34" charset="-120"/>
              </a:rPr>
              <a:t>「　聞き手が最も知りたい結論　」ファーストで設計する。</a:t>
            </a:r>
            <a:endParaRPr lang="en-US" sz="950" dirty="0"/>
          </a:p>
        </p:txBody>
      </p:sp>
      <p:pic>
        <p:nvPicPr>
          <p:cNvPr id="11" name="Image 0" descr="C:\Users\banan\OneDrive\OneDrive\Antigravity西川佳孝_＠ゴリラ\AI_rituto\成功例を渡せ\images\scenario_architecture_1787442476751.jpg">    </p:cNvPr>
          <p:cNvPicPr>
            <a:picLocks noChangeAspect="1"/>
          </p:cNvPicPr>
          <p:nvPr/>
        </p:nvPicPr>
        <p:blipFill>
          <a:blip r:embed="rId1"/>
          <a:stretch>
            <a:fillRect/>
          </a:stretch>
        </p:blipFill>
        <p:spPr>
          <a:xfrm>
            <a:off x="5029200" y="1280160"/>
            <a:ext cx="3657600" cy="3246120"/>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EFF6FF"/>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TRACK RECORD &amp; PROOF</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0F172A"/>
                </a:solidFill>
                <a:latin typeface="Meiryo" pitchFamily="34" charset="0"/>
                <a:ea typeface="Meiryo" pitchFamily="34" charset="-122"/>
                <a:cs typeface="Meiryo" pitchFamily="34" charset="-120"/>
              </a:rPr>
              <a:t>5億円のビジネス実戦と、公開レビュー「　★4.9　」が証明する再現性。</a:t>
            </a:r>
            <a:endParaRPr lang="en-US" sz="1500" dirty="0"/>
          </a:p>
        </p:txBody>
      </p:sp>
      <p:sp>
        <p:nvSpPr>
          <p:cNvPr id="5" name="Shape 3"/>
          <p:cNvSpPr/>
          <p:nvPr/>
        </p:nvSpPr>
        <p:spPr>
          <a:xfrm>
            <a:off x="457200" y="1234440"/>
            <a:ext cx="4297680" cy="685800"/>
          </a:xfrm>
          <a:prstGeom prst="rect">
            <a:avLst/>
          </a:prstGeom>
          <a:solidFill>
            <a:srgbClr val="FFFFFF"/>
          </a:solidFill>
          <a:ln w="12700">
            <a:solidFill>
              <a:srgbClr val="E2E8F0"/>
            </a:solidFill>
            <a:prstDash val="solid"/>
          </a:ln>
        </p:spPr>
      </p:sp>
      <p:sp>
        <p:nvSpPr>
          <p:cNvPr id="6" name="Text 4"/>
          <p:cNvSpPr/>
          <p:nvPr/>
        </p:nvSpPr>
        <p:spPr>
          <a:xfrm>
            <a:off x="594360" y="1325880"/>
            <a:ext cx="1371600" cy="502920"/>
          </a:xfrm>
          <a:prstGeom prst="rect">
            <a:avLst/>
          </a:prstGeom>
          <a:noFill/>
          <a:ln/>
        </p:spPr>
        <p:txBody>
          <a:bodyPr wrap="square" rtlCol="0" anchor="ctr"/>
          <a:lstStyle/>
          <a:p>
            <a:pPr indent="0" marL="0">
              <a:buNone/>
            </a:pPr>
            <a:r>
              <a:rPr lang="en-US" sz="1800" b="1" dirty="0">
                <a:solidFill>
                  <a:srgbClr val="1D4ED8"/>
                </a:solidFill>
                <a:latin typeface="Meiryo" pitchFamily="34" charset="0"/>
                <a:ea typeface="Meiryo" pitchFamily="34" charset="-122"/>
                <a:cs typeface="Meiryo" pitchFamily="34" charset="-120"/>
              </a:rPr>
              <a:t>5億円+</a:t>
            </a:r>
            <a:endParaRPr lang="en-US" sz="1800" dirty="0"/>
          </a:p>
        </p:txBody>
      </p:sp>
      <p:sp>
        <p:nvSpPr>
          <p:cNvPr id="7" name="Text 5"/>
          <p:cNvSpPr/>
          <p:nvPr/>
        </p:nvSpPr>
        <p:spPr>
          <a:xfrm>
            <a:off x="2011680" y="1325880"/>
            <a:ext cx="2560320" cy="22860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累計契約コンサルフィー</a:t>
            </a:r>
            <a:endParaRPr lang="en-US" sz="950" dirty="0"/>
          </a:p>
        </p:txBody>
      </p:sp>
      <p:sp>
        <p:nvSpPr>
          <p:cNvPr id="8" name="Text 6"/>
          <p:cNvSpPr/>
          <p:nvPr/>
        </p:nvSpPr>
        <p:spPr>
          <a:xfrm>
            <a:off x="2011680" y="1554480"/>
            <a:ext cx="2560320" cy="320040"/>
          </a:xfrm>
          <a:prstGeom prst="rect">
            <a:avLst/>
          </a:prstGeom>
          <a:noFill/>
          <a:ln/>
        </p:spPr>
        <p:txBody>
          <a:bodyPr wrap="square" rtlCol="0" anchor="ctr"/>
          <a:lstStyle/>
          <a:p>
            <a:pPr indent="0" marL="0">
              <a:buNone/>
            </a:pPr>
            <a:r>
              <a:rPr lang="en-US" sz="800" dirty="0">
                <a:solidFill>
                  <a:srgbClr val="475569"/>
                </a:solidFill>
                <a:latin typeface="Meiryo" pitchFamily="34" charset="0"/>
                <a:ea typeface="Meiryo" pitchFamily="34" charset="-122"/>
                <a:cs typeface="Meiryo" pitchFamily="34" charset="-120"/>
              </a:rPr>
              <a:t>元シニア経営コンサルタント（在籍16年）。数百社の実戦経験。</a:t>
            </a:r>
            <a:endParaRPr lang="en-US" sz="800" dirty="0"/>
          </a:p>
        </p:txBody>
      </p:sp>
      <p:sp>
        <p:nvSpPr>
          <p:cNvPr id="9" name="Shape 7"/>
          <p:cNvSpPr/>
          <p:nvPr/>
        </p:nvSpPr>
        <p:spPr>
          <a:xfrm>
            <a:off x="457200" y="2011680"/>
            <a:ext cx="4297680" cy="685800"/>
          </a:xfrm>
          <a:prstGeom prst="rect">
            <a:avLst/>
          </a:prstGeom>
          <a:solidFill>
            <a:srgbClr val="FFFFFF"/>
          </a:solidFill>
          <a:ln w="12700">
            <a:solidFill>
              <a:srgbClr val="E2E8F0"/>
            </a:solidFill>
            <a:prstDash val="solid"/>
          </a:ln>
        </p:spPr>
      </p:sp>
      <p:sp>
        <p:nvSpPr>
          <p:cNvPr id="10" name="Text 8"/>
          <p:cNvSpPr/>
          <p:nvPr/>
        </p:nvSpPr>
        <p:spPr>
          <a:xfrm>
            <a:off x="594360" y="2103120"/>
            <a:ext cx="1371600" cy="502920"/>
          </a:xfrm>
          <a:prstGeom prst="rect">
            <a:avLst/>
          </a:prstGeom>
          <a:noFill/>
          <a:ln/>
        </p:spPr>
        <p:txBody>
          <a:bodyPr wrap="square" rtlCol="0" anchor="ctr"/>
          <a:lstStyle/>
          <a:p>
            <a:pPr indent="0" marL="0">
              <a:buNone/>
            </a:pPr>
            <a:r>
              <a:rPr lang="en-US" sz="1800" b="1" dirty="0">
                <a:solidFill>
                  <a:srgbClr val="1D4ED8"/>
                </a:solidFill>
                <a:latin typeface="Meiryo" pitchFamily="34" charset="0"/>
                <a:ea typeface="Meiryo" pitchFamily="34" charset="-122"/>
                <a:cs typeface="Meiryo" pitchFamily="34" charset="-120"/>
              </a:rPr>
              <a:t>★ 4.90</a:t>
            </a:r>
            <a:endParaRPr lang="en-US" sz="1800" dirty="0"/>
          </a:p>
        </p:txBody>
      </p:sp>
      <p:sp>
        <p:nvSpPr>
          <p:cNvPr id="11" name="Text 9"/>
          <p:cNvSpPr/>
          <p:nvPr/>
        </p:nvSpPr>
        <p:spPr>
          <a:xfrm>
            <a:off x="2011680" y="2103120"/>
            <a:ext cx="2560320" cy="22860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ストアカ受講者満足度</a:t>
            </a:r>
            <a:endParaRPr lang="en-US" sz="950" dirty="0"/>
          </a:p>
        </p:txBody>
      </p:sp>
      <p:sp>
        <p:nvSpPr>
          <p:cNvPr id="12" name="Text 10"/>
          <p:cNvSpPr/>
          <p:nvPr/>
        </p:nvSpPr>
        <p:spPr>
          <a:xfrm>
            <a:off x="2011680" y="2331720"/>
            <a:ext cx="2560320" cy="320040"/>
          </a:xfrm>
          <a:prstGeom prst="rect">
            <a:avLst/>
          </a:prstGeom>
          <a:noFill/>
          <a:ln/>
        </p:spPr>
        <p:txBody>
          <a:bodyPr wrap="square" rtlCol="0" anchor="ctr"/>
          <a:lstStyle/>
          <a:p>
            <a:pPr indent="0" marL="0">
              <a:buNone/>
            </a:pPr>
            <a:r>
              <a:rPr lang="en-US" sz="800" dirty="0">
                <a:solidFill>
                  <a:srgbClr val="475569"/>
                </a:solidFill>
                <a:latin typeface="Meiryo" pitchFamily="34" charset="0"/>
                <a:ea typeface="Meiryo" pitchFamily="34" charset="-122"/>
                <a:cs typeface="Meiryo" pitchFamily="34" charset="-120"/>
              </a:rPr>
              <a:t>国内最大級マーケットで「新人先生賞」受賞。公開レビュー絶賛。</a:t>
            </a:r>
            <a:endParaRPr lang="en-US" sz="800" dirty="0"/>
          </a:p>
        </p:txBody>
      </p:sp>
      <p:sp>
        <p:nvSpPr>
          <p:cNvPr id="13" name="Shape 11"/>
          <p:cNvSpPr/>
          <p:nvPr/>
        </p:nvSpPr>
        <p:spPr>
          <a:xfrm>
            <a:off x="457200" y="2788920"/>
            <a:ext cx="4297680" cy="685800"/>
          </a:xfrm>
          <a:prstGeom prst="rect">
            <a:avLst/>
          </a:prstGeom>
          <a:solidFill>
            <a:srgbClr val="FFFFFF"/>
          </a:solidFill>
          <a:ln w="12700">
            <a:solidFill>
              <a:srgbClr val="E2E8F0"/>
            </a:solidFill>
            <a:prstDash val="solid"/>
          </a:ln>
        </p:spPr>
      </p:sp>
      <p:sp>
        <p:nvSpPr>
          <p:cNvPr id="14" name="Text 12"/>
          <p:cNvSpPr/>
          <p:nvPr/>
        </p:nvSpPr>
        <p:spPr>
          <a:xfrm>
            <a:off x="594360" y="2880360"/>
            <a:ext cx="1371600" cy="502920"/>
          </a:xfrm>
          <a:prstGeom prst="rect">
            <a:avLst/>
          </a:prstGeom>
          <a:noFill/>
          <a:ln/>
        </p:spPr>
        <p:txBody>
          <a:bodyPr wrap="square" rtlCol="0" anchor="ctr"/>
          <a:lstStyle/>
          <a:p>
            <a:pPr indent="0" marL="0">
              <a:buNone/>
            </a:pPr>
            <a:r>
              <a:rPr lang="en-US" sz="1800" b="1" dirty="0">
                <a:solidFill>
                  <a:srgbClr val="1D4ED8"/>
                </a:solidFill>
                <a:latin typeface="Meiryo" pitchFamily="34" charset="0"/>
                <a:ea typeface="Meiryo" pitchFamily="34" charset="-122"/>
                <a:cs typeface="Meiryo" pitchFamily="34" charset="-120"/>
              </a:rPr>
              <a:t>3倍</a:t>
            </a:r>
            <a:endParaRPr lang="en-US" sz="1800" dirty="0"/>
          </a:p>
        </p:txBody>
      </p:sp>
      <p:sp>
        <p:nvSpPr>
          <p:cNvPr id="15" name="Text 13"/>
          <p:cNvSpPr/>
          <p:nvPr/>
        </p:nvSpPr>
        <p:spPr>
          <a:xfrm>
            <a:off x="2011680" y="2880360"/>
            <a:ext cx="2560320" cy="22860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受講者契約単価向上</a:t>
            </a:r>
            <a:endParaRPr lang="en-US" sz="950" dirty="0"/>
          </a:p>
        </p:txBody>
      </p:sp>
      <p:sp>
        <p:nvSpPr>
          <p:cNvPr id="16" name="Text 14"/>
          <p:cNvSpPr/>
          <p:nvPr/>
        </p:nvSpPr>
        <p:spPr>
          <a:xfrm>
            <a:off x="2011680" y="3108960"/>
            <a:ext cx="2560320" cy="320040"/>
          </a:xfrm>
          <a:prstGeom prst="rect">
            <a:avLst/>
          </a:prstGeom>
          <a:noFill/>
          <a:ln/>
        </p:spPr>
        <p:txBody>
          <a:bodyPr wrap="square" rtlCol="0" anchor="ctr"/>
          <a:lstStyle/>
          <a:p>
            <a:pPr indent="0" marL="0">
              <a:buNone/>
            </a:pPr>
            <a:r>
              <a:rPr lang="en-US" sz="800" dirty="0">
                <a:solidFill>
                  <a:srgbClr val="475569"/>
                </a:solidFill>
                <a:latin typeface="Meiryo" pitchFamily="34" charset="0"/>
                <a:ea typeface="Meiryo" pitchFamily="34" charset="-122"/>
                <a:cs typeface="Meiryo" pitchFamily="34" charset="-120"/>
              </a:rPr>
              <a:t>全国紙執筆、全国講演ゲスト講師、テレビ・ラジオ等へ進出。</a:t>
            </a:r>
            <a:endParaRPr lang="en-US" sz="800" dirty="0"/>
          </a:p>
        </p:txBody>
      </p:sp>
      <p:sp>
        <p:nvSpPr>
          <p:cNvPr id="17" name="Shape 15"/>
          <p:cNvSpPr/>
          <p:nvPr/>
        </p:nvSpPr>
        <p:spPr>
          <a:xfrm>
            <a:off x="457200" y="3657600"/>
            <a:ext cx="4297680" cy="1051560"/>
          </a:xfrm>
          <a:prstGeom prst="rect">
            <a:avLst/>
          </a:prstGeom>
          <a:solidFill>
            <a:srgbClr val="F1F5F9"/>
          </a:solidFill>
          <a:ln w="12700">
            <a:solidFill>
              <a:srgbClr val="CBD5E1"/>
            </a:solidFill>
            <a:prstDash val="solid"/>
          </a:ln>
        </p:spPr>
      </p:sp>
      <p:sp>
        <p:nvSpPr>
          <p:cNvPr id="18" name="Text 16"/>
          <p:cNvSpPr/>
          <p:nvPr/>
        </p:nvSpPr>
        <p:spPr>
          <a:xfrm>
            <a:off x="594360" y="3730752"/>
            <a:ext cx="4023360" cy="914400"/>
          </a:xfrm>
          <a:prstGeom prst="rect">
            <a:avLst/>
          </a:prstGeom>
          <a:noFill/>
          <a:ln/>
        </p:spPr>
        <p:txBody>
          <a:bodyPr wrap="square" rtlCol="0" anchor="ctr"/>
          <a:lstStyle/>
          <a:p>
            <a:pPr indent="0" marL="0">
              <a:lnSpc>
                <a:spcPts val="1100"/>
              </a:lnSpc>
              <a:buNone/>
            </a:pPr>
            <a:r>
              <a:rPr lang="en-US" sz="750" dirty="0">
                <a:solidFill>
                  <a:srgbClr val="475569"/>
                </a:solidFill>
                <a:latin typeface="Meiryo" pitchFamily="34" charset="0"/>
                <a:ea typeface="Meiryo" pitchFamily="34" charset="-122"/>
                <a:cs typeface="Meiryo" pitchFamily="34" charset="-120"/>
              </a:rPr>
              <a:t>【支援実績】 料理、美容、コンサル、英会話、接客、幼児教育、エクセル、マインドフルネス、ヨガ、心理学、お金、パン教室、ボイストレーナー、風水師、アロマ、薬膳、話し方、SNS集客などの現役講師陣</a:t>
            </a:r>
            <a:endParaRPr lang="en-US" sz="750" dirty="0"/>
          </a:p>
        </p:txBody>
      </p:sp>
      <p:pic>
        <p:nvPicPr>
          <p:cNvPr id="19" name="Image 0" descr="C:\Users\banan\OneDrive\OneDrive\Antigravity西川佳孝_＠ゴリラ\AI_rituto\成功例を渡せ\images\track_record_gold_1787442491242.jpg">    </p:cNvPr>
          <p:cNvPicPr>
            <a:picLocks noChangeAspect="1"/>
          </p:cNvPicPr>
          <p:nvPr/>
        </p:nvPicPr>
        <p:blipFill>
          <a:blip r:embed="rId1"/>
          <a:stretch>
            <a:fillRect/>
          </a:stretch>
        </p:blipFill>
        <p:spPr>
          <a:xfrm>
            <a:off x="4937760" y="1234440"/>
            <a:ext cx="3749040" cy="3474720"/>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EFF6FF"/>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THE METHOD : 劇的REプレゼン®</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0F172A"/>
                </a:solidFill>
                <a:latin typeface="Meiryo" pitchFamily="34" charset="0"/>
                <a:ea typeface="Meiryo" pitchFamily="34" charset="-122"/>
                <a:cs typeface="Meiryo" pitchFamily="34" charset="-120"/>
              </a:rPr>
              <a:t>数千回の実践経験をベースにした「　論理と心理　」で仕掛けるエンタメ演出メソッド。</a:t>
            </a:r>
            <a:endParaRPr lang="en-US" sz="1500" dirty="0"/>
          </a:p>
        </p:txBody>
      </p:sp>
      <p:pic>
        <p:nvPicPr>
          <p:cNvPr id="5" name="Image 0" descr="C:\Users\banan\OneDrive\OneDrive\Antigravity西川佳孝_＠ゴリラ\AI_rituto\成功例を渡せ\images\three_steps_method_1787442506024.jpg">    </p:cNvPr>
          <p:cNvPicPr>
            <a:picLocks noChangeAspect="1"/>
          </p:cNvPicPr>
          <p:nvPr/>
        </p:nvPicPr>
        <p:blipFill>
          <a:blip r:embed="rId1"/>
          <a:stretch>
            <a:fillRect/>
          </a:stretch>
        </p:blipFill>
        <p:spPr>
          <a:xfrm>
            <a:off x="457200" y="1234440"/>
            <a:ext cx="3474720" cy="3429000"/>
          </a:xfrm>
          <a:prstGeom prst="ellipse">
            <a:avLst/>
          </a:prstGeom>
        </p:spPr>
      </p:pic>
      <p:sp>
        <p:nvSpPr>
          <p:cNvPr id="6" name="Shape 3"/>
          <p:cNvSpPr/>
          <p:nvPr/>
        </p:nvSpPr>
        <p:spPr>
          <a:xfrm>
            <a:off x="4160520" y="1234440"/>
            <a:ext cx="4526280" cy="1078992"/>
          </a:xfrm>
          <a:prstGeom prst="rect">
            <a:avLst/>
          </a:prstGeom>
          <a:solidFill>
            <a:srgbClr val="FFFFFF"/>
          </a:solidFill>
          <a:ln w="12700">
            <a:solidFill>
              <a:srgbClr val="E2E8F0"/>
            </a:solidFill>
            <a:prstDash val="solid"/>
          </a:ln>
        </p:spPr>
      </p:sp>
      <p:sp>
        <p:nvSpPr>
          <p:cNvPr id="7" name="Shape 4"/>
          <p:cNvSpPr/>
          <p:nvPr/>
        </p:nvSpPr>
        <p:spPr>
          <a:xfrm>
            <a:off x="4160520" y="1234440"/>
            <a:ext cx="73152" cy="1078992"/>
          </a:xfrm>
          <a:prstGeom prst="rect">
            <a:avLst/>
          </a:prstGeom>
          <a:solidFill>
            <a:srgbClr val="3B82F6"/>
          </a:solidFill>
          <a:ln/>
        </p:spPr>
      </p:sp>
      <p:sp>
        <p:nvSpPr>
          <p:cNvPr id="8" name="Text 5"/>
          <p:cNvSpPr/>
          <p:nvPr/>
        </p:nvSpPr>
        <p:spPr>
          <a:xfrm>
            <a:off x="4343400" y="1325880"/>
            <a:ext cx="4206240" cy="320040"/>
          </a:xfrm>
          <a:prstGeom prst="rect">
            <a:avLst/>
          </a:prstGeom>
          <a:noFill/>
          <a:ln/>
        </p:spPr>
        <p:txBody>
          <a:bodyPr wrap="square" rtlCol="0" anchor="ctr"/>
          <a:lstStyle/>
          <a:p>
            <a:pPr indent="0" marL="0">
              <a:buNone/>
            </a:pPr>
            <a:r>
              <a:rPr lang="en-US" sz="1000" b="1" dirty="0">
                <a:solidFill>
                  <a:srgbClr val="0F172A"/>
                </a:solidFill>
                <a:latin typeface="Meiryo" pitchFamily="34" charset="0"/>
                <a:ea typeface="Meiryo" pitchFamily="34" charset="-122"/>
                <a:cs typeface="Meiryo" pitchFamily="34" charset="-120"/>
              </a:rPr>
              <a:t>STEP 01 ｜ 言葉の奥にある本音を抽出し、目的と手段で選別する</a:t>
            </a:r>
            <a:endParaRPr lang="en-US" sz="1000" dirty="0"/>
          </a:p>
        </p:txBody>
      </p:sp>
      <p:sp>
        <p:nvSpPr>
          <p:cNvPr id="9" name="Text 6"/>
          <p:cNvSpPr/>
          <p:nvPr/>
        </p:nvSpPr>
        <p:spPr>
          <a:xfrm>
            <a:off x="4343400" y="1645920"/>
            <a:ext cx="4206240" cy="594360"/>
          </a:xfrm>
          <a:prstGeom prst="rect">
            <a:avLst/>
          </a:prstGeom>
          <a:noFill/>
          <a:ln/>
        </p:spPr>
        <p:txBody>
          <a:bodyPr wrap="square" rtlCol="0" anchor="ctr"/>
          <a:lstStyle/>
          <a:p>
            <a:pPr indent="0" marL="0">
              <a:lnSpc>
                <a:spcPts val="1300"/>
              </a:lnSpc>
              <a:buNone/>
            </a:pPr>
            <a:r>
              <a:rPr lang="en-US" sz="900" dirty="0">
                <a:solidFill>
                  <a:srgbClr val="475569"/>
                </a:solidFill>
                <a:latin typeface="Meiryo" pitchFamily="34" charset="0"/>
                <a:ea typeface="Meiryo" pitchFamily="34" charset="-122"/>
                <a:cs typeface="Meiryo" pitchFamily="34" charset="-120"/>
              </a:rPr>
              <a:t>「何を一番伝えたいのか」「相手にどう動いてほしいのか」を峻別。</a:t>
            </a:r>
            <a:endParaRPr lang="en-US" sz="900" dirty="0"/>
          </a:p>
        </p:txBody>
      </p:sp>
      <p:sp>
        <p:nvSpPr>
          <p:cNvPr id="10" name="Shape 7"/>
          <p:cNvSpPr/>
          <p:nvPr/>
        </p:nvSpPr>
        <p:spPr>
          <a:xfrm>
            <a:off x="4160520" y="2404872"/>
            <a:ext cx="4526280" cy="1078992"/>
          </a:xfrm>
          <a:prstGeom prst="rect">
            <a:avLst/>
          </a:prstGeom>
          <a:solidFill>
            <a:srgbClr val="FFFFFF"/>
          </a:solidFill>
          <a:ln w="12700">
            <a:solidFill>
              <a:srgbClr val="E2E8F0"/>
            </a:solidFill>
            <a:prstDash val="solid"/>
          </a:ln>
        </p:spPr>
      </p:sp>
      <p:sp>
        <p:nvSpPr>
          <p:cNvPr id="11" name="Shape 8"/>
          <p:cNvSpPr/>
          <p:nvPr/>
        </p:nvSpPr>
        <p:spPr>
          <a:xfrm>
            <a:off x="4160520" y="2404872"/>
            <a:ext cx="73152" cy="1078992"/>
          </a:xfrm>
          <a:prstGeom prst="rect">
            <a:avLst/>
          </a:prstGeom>
          <a:solidFill>
            <a:srgbClr val="D97706"/>
          </a:solidFill>
          <a:ln/>
        </p:spPr>
      </p:sp>
      <p:sp>
        <p:nvSpPr>
          <p:cNvPr id="12" name="Text 9"/>
          <p:cNvSpPr/>
          <p:nvPr/>
        </p:nvSpPr>
        <p:spPr>
          <a:xfrm>
            <a:off x="4343400" y="2496312"/>
            <a:ext cx="4206240" cy="320040"/>
          </a:xfrm>
          <a:prstGeom prst="rect">
            <a:avLst/>
          </a:prstGeom>
          <a:noFill/>
          <a:ln/>
        </p:spPr>
        <p:txBody>
          <a:bodyPr wrap="square" rtlCol="0" anchor="ctr"/>
          <a:lstStyle/>
          <a:p>
            <a:pPr indent="0" marL="0">
              <a:buNone/>
            </a:pPr>
            <a:r>
              <a:rPr lang="en-US" sz="1000" b="1" dirty="0">
                <a:solidFill>
                  <a:srgbClr val="0F172A"/>
                </a:solidFill>
                <a:latin typeface="Meiryo" pitchFamily="34" charset="0"/>
                <a:ea typeface="Meiryo" pitchFamily="34" charset="-122"/>
                <a:cs typeface="Meiryo" pitchFamily="34" charset="-120"/>
              </a:rPr>
              <a:t>STEP 02 ｜ 共感ツカミ &amp; シナリオ再構成</a:t>
            </a:r>
            <a:endParaRPr lang="en-US" sz="1000" dirty="0"/>
          </a:p>
        </p:txBody>
      </p:sp>
      <p:sp>
        <p:nvSpPr>
          <p:cNvPr id="13" name="Text 10"/>
          <p:cNvSpPr/>
          <p:nvPr/>
        </p:nvSpPr>
        <p:spPr>
          <a:xfrm>
            <a:off x="4343400" y="2816352"/>
            <a:ext cx="4206240" cy="594360"/>
          </a:xfrm>
          <a:prstGeom prst="rect">
            <a:avLst/>
          </a:prstGeom>
          <a:noFill/>
          <a:ln/>
        </p:spPr>
        <p:txBody>
          <a:bodyPr wrap="square" rtlCol="0" anchor="ctr"/>
          <a:lstStyle/>
          <a:p>
            <a:pPr indent="0" marL="0">
              <a:lnSpc>
                <a:spcPts val="1300"/>
              </a:lnSpc>
              <a:buNone/>
            </a:pPr>
            <a:r>
              <a:rPr lang="en-US" sz="900" dirty="0">
                <a:solidFill>
                  <a:srgbClr val="475569"/>
                </a:solidFill>
                <a:latin typeface="Meiryo" pitchFamily="34" charset="0"/>
                <a:ea typeface="Meiryo" pitchFamily="34" charset="-122"/>
                <a:cs typeface="Meiryo" pitchFamily="34" charset="-120"/>
              </a:rPr>
              <a:t>心をツカム言葉へ翻訳し、聞き手が前のめりになるシナリオへ組み替える。</a:t>
            </a:r>
            <a:endParaRPr lang="en-US" sz="900" dirty="0"/>
          </a:p>
        </p:txBody>
      </p:sp>
      <p:sp>
        <p:nvSpPr>
          <p:cNvPr id="14" name="Shape 11"/>
          <p:cNvSpPr/>
          <p:nvPr/>
        </p:nvSpPr>
        <p:spPr>
          <a:xfrm>
            <a:off x="4160520" y="3575304"/>
            <a:ext cx="4526280" cy="1078992"/>
          </a:xfrm>
          <a:prstGeom prst="rect">
            <a:avLst/>
          </a:prstGeom>
          <a:solidFill>
            <a:srgbClr val="FFFFFF"/>
          </a:solidFill>
          <a:ln w="12700">
            <a:solidFill>
              <a:srgbClr val="E2E8F0"/>
            </a:solidFill>
            <a:prstDash val="solid"/>
          </a:ln>
        </p:spPr>
      </p:sp>
      <p:sp>
        <p:nvSpPr>
          <p:cNvPr id="15" name="Shape 12"/>
          <p:cNvSpPr/>
          <p:nvPr/>
        </p:nvSpPr>
        <p:spPr>
          <a:xfrm>
            <a:off x="4160520" y="3575304"/>
            <a:ext cx="73152" cy="1078992"/>
          </a:xfrm>
          <a:prstGeom prst="rect">
            <a:avLst/>
          </a:prstGeom>
          <a:solidFill>
            <a:srgbClr val="10B981"/>
          </a:solidFill>
          <a:ln/>
        </p:spPr>
      </p:sp>
      <p:sp>
        <p:nvSpPr>
          <p:cNvPr id="16" name="Text 13"/>
          <p:cNvSpPr/>
          <p:nvPr/>
        </p:nvSpPr>
        <p:spPr>
          <a:xfrm>
            <a:off x="4343400" y="3666744"/>
            <a:ext cx="4206240" cy="320040"/>
          </a:xfrm>
          <a:prstGeom prst="rect">
            <a:avLst/>
          </a:prstGeom>
          <a:noFill/>
          <a:ln/>
        </p:spPr>
        <p:txBody>
          <a:bodyPr wrap="square" rtlCol="0" anchor="ctr"/>
          <a:lstStyle/>
          <a:p>
            <a:pPr indent="0" marL="0">
              <a:buNone/>
            </a:pPr>
            <a:r>
              <a:rPr lang="en-US" sz="1000" b="1" dirty="0">
                <a:solidFill>
                  <a:srgbClr val="0F172A"/>
                </a:solidFill>
                <a:latin typeface="Meiryo" pitchFamily="34" charset="0"/>
                <a:ea typeface="Meiryo" pitchFamily="34" charset="-122"/>
                <a:cs typeface="Meiryo" pitchFamily="34" charset="-120"/>
              </a:rPr>
              <a:t>STEP 03 ｜ 1スライド1メッセージ &amp; 脳内リハーサル</a:t>
            </a:r>
            <a:endParaRPr lang="en-US" sz="1000" dirty="0"/>
          </a:p>
        </p:txBody>
      </p:sp>
      <p:sp>
        <p:nvSpPr>
          <p:cNvPr id="17" name="Text 14"/>
          <p:cNvSpPr/>
          <p:nvPr/>
        </p:nvSpPr>
        <p:spPr>
          <a:xfrm>
            <a:off x="4343400" y="3986784"/>
            <a:ext cx="4206240" cy="594360"/>
          </a:xfrm>
          <a:prstGeom prst="rect">
            <a:avLst/>
          </a:prstGeom>
          <a:noFill/>
          <a:ln/>
        </p:spPr>
        <p:txBody>
          <a:bodyPr wrap="square" rtlCol="0" anchor="ctr"/>
          <a:lstStyle/>
          <a:p>
            <a:pPr indent="0" marL="0">
              <a:lnSpc>
                <a:spcPts val="1300"/>
              </a:lnSpc>
              <a:buNone/>
            </a:pPr>
            <a:r>
              <a:rPr lang="en-US" sz="900" dirty="0">
                <a:solidFill>
                  <a:srgbClr val="475569"/>
                </a:solidFill>
                <a:latin typeface="Meiryo" pitchFamily="34" charset="0"/>
                <a:ea typeface="Meiryo" pitchFamily="34" charset="-122"/>
                <a:cs typeface="Meiryo" pitchFamily="34" charset="-120"/>
              </a:rPr>
              <a:t>余計な情報を削ぎ落としたスライド化と、現場をリアルに想定したシミュレーション。</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EFF6FF"/>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CASE STUDY 01</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0F172A"/>
                </a:solidFill>
                <a:latin typeface="Meiryo" pitchFamily="34" charset="0"/>
                <a:ea typeface="Meiryo" pitchFamily="34" charset="-122"/>
                <a:cs typeface="Meiryo" pitchFamily="34" charset="-120"/>
              </a:rPr>
              <a:t>ポジショニングとシナリオで、活動の舞台が「　全国　」へ広がる。</a:t>
            </a:r>
            <a:endParaRPr lang="en-US" sz="1500" dirty="0"/>
          </a:p>
        </p:txBody>
      </p:sp>
      <p:sp>
        <p:nvSpPr>
          <p:cNvPr id="5" name="Shape 3"/>
          <p:cNvSpPr/>
          <p:nvPr/>
        </p:nvSpPr>
        <p:spPr>
          <a:xfrm>
            <a:off x="457200" y="1234440"/>
            <a:ext cx="4389120" cy="1645920"/>
          </a:xfrm>
          <a:prstGeom prst="rect">
            <a:avLst/>
          </a:prstGeom>
          <a:solidFill>
            <a:srgbClr val="FFFFFF"/>
          </a:solidFill>
          <a:ln w="12700">
            <a:solidFill>
              <a:srgbClr val="3B82F6"/>
            </a:solidFill>
            <a:prstDash val="solid"/>
          </a:ln>
        </p:spPr>
      </p:sp>
      <p:sp>
        <p:nvSpPr>
          <p:cNvPr id="6" name="Text 4"/>
          <p:cNvSpPr/>
          <p:nvPr/>
        </p:nvSpPr>
        <p:spPr>
          <a:xfrm>
            <a:off x="640080" y="1325880"/>
            <a:ext cx="4023360" cy="228600"/>
          </a:xfrm>
          <a:prstGeom prst="rect">
            <a:avLst/>
          </a:prstGeom>
          <a:noFill/>
          <a:ln/>
        </p:spPr>
        <p:txBody>
          <a:bodyPr wrap="square" rtlCol="0" anchor="ctr"/>
          <a:lstStyle/>
          <a:p>
            <a:pPr indent="0" marL="0">
              <a:buNone/>
            </a:pPr>
            <a:r>
              <a:rPr lang="en-US" sz="1050" b="1" dirty="0">
                <a:solidFill>
                  <a:srgbClr val="1D4ED8"/>
                </a:solidFill>
                <a:latin typeface="Meiryo" pitchFamily="34" charset="0"/>
                <a:ea typeface="Meiryo" pitchFamily="34" charset="-122"/>
                <a:cs typeface="Meiryo" pitchFamily="34" charset="-120"/>
              </a:rPr>
              <a:t>CASE 01 ｜ 社会保険労務士（士業）</a:t>
            </a:r>
            <a:endParaRPr lang="en-US" sz="1050" dirty="0"/>
          </a:p>
        </p:txBody>
      </p:sp>
      <p:sp>
        <p:nvSpPr>
          <p:cNvPr id="7" name="Text 5"/>
          <p:cNvSpPr/>
          <p:nvPr/>
        </p:nvSpPr>
        <p:spPr>
          <a:xfrm>
            <a:off x="640080" y="1600200"/>
            <a:ext cx="4023360" cy="1188720"/>
          </a:xfrm>
          <a:prstGeom prst="rect">
            <a:avLst/>
          </a:prstGeom>
          <a:noFill/>
          <a:ln/>
        </p:spPr>
        <p:txBody>
          <a:bodyPr wrap="square" rtlCol="0" anchor="ctr"/>
          <a:lstStyle/>
          <a:p>
            <a:pPr indent="0" marL="0">
              <a:lnSpc>
                <a:spcPts val="1300"/>
              </a:lnSpc>
              <a:buNone/>
            </a:pPr>
            <a:r>
              <a:rPr lang="en-US" sz="850" dirty="0">
                <a:solidFill>
                  <a:srgbClr val="475569"/>
                </a:solidFill>
                <a:latin typeface="Meiryo" pitchFamily="34" charset="0"/>
                <a:ea typeface="Meiryo" pitchFamily="34" charset="-122"/>
                <a:cs typeface="Meiryo" pitchFamily="34" charset="-120"/>
              </a:rPr>
              <a:t>【Before】 地域での活動・一般的な社労士業務にとどまり単価アップに苦戦</a:t>
            </a:r>
            <a:endParaRPr lang="en-US" sz="850" dirty="0"/>
          </a:p>
          <a:p>
            <a:pPr indent="0" marL="0">
              <a:lnSpc>
                <a:spcPts val="1300"/>
              </a:lnSpc>
              <a:buNone/>
            </a:pPr>
            <a:r>
              <a:rPr lang="en-US" sz="850" dirty="0">
                <a:solidFill>
                  <a:srgbClr val="475569"/>
                </a:solidFill>
                <a:latin typeface="Meiryo" pitchFamily="34" charset="0"/>
                <a:ea typeface="Meiryo" pitchFamily="34" charset="-122"/>
                <a:cs typeface="Meiryo" pitchFamily="34" charset="-120"/>
              </a:rPr>
              <a:t>【After】 「　業界特化×講演ができる社労士　」というポジショニングにより、全国紙・全国協会誌執筆、全国講演依頼殺到、契約単価は2〜3倍へ向上！</a:t>
            </a:r>
            <a:endParaRPr lang="en-US" sz="850" dirty="0"/>
          </a:p>
        </p:txBody>
      </p:sp>
      <p:sp>
        <p:nvSpPr>
          <p:cNvPr id="8" name="Shape 6"/>
          <p:cNvSpPr/>
          <p:nvPr/>
        </p:nvSpPr>
        <p:spPr>
          <a:xfrm>
            <a:off x="457200" y="2999232"/>
            <a:ext cx="4389120" cy="1645920"/>
          </a:xfrm>
          <a:prstGeom prst="rect">
            <a:avLst/>
          </a:prstGeom>
          <a:solidFill>
            <a:srgbClr val="FFFFFF"/>
          </a:solidFill>
          <a:ln w="12700">
            <a:solidFill>
              <a:srgbClr val="D97706"/>
            </a:solidFill>
            <a:prstDash val="solid"/>
          </a:ln>
        </p:spPr>
      </p:sp>
      <p:sp>
        <p:nvSpPr>
          <p:cNvPr id="9" name="Text 7"/>
          <p:cNvSpPr/>
          <p:nvPr/>
        </p:nvSpPr>
        <p:spPr>
          <a:xfrm>
            <a:off x="640080" y="3090672"/>
            <a:ext cx="4023360" cy="228600"/>
          </a:xfrm>
          <a:prstGeom prst="rect">
            <a:avLst/>
          </a:prstGeom>
          <a:noFill/>
          <a:ln/>
        </p:spPr>
        <p:txBody>
          <a:bodyPr wrap="square" rtlCol="0" anchor="ctr"/>
          <a:lstStyle/>
          <a:p>
            <a:pPr indent="0" marL="0">
              <a:buNone/>
            </a:pPr>
            <a:r>
              <a:rPr lang="en-US" sz="1050" b="1" dirty="0">
                <a:solidFill>
                  <a:srgbClr val="92400E"/>
                </a:solidFill>
                <a:latin typeface="Meiryo" pitchFamily="34" charset="0"/>
                <a:ea typeface="Meiryo" pitchFamily="34" charset="-122"/>
                <a:cs typeface="Meiryo" pitchFamily="34" charset="-120"/>
              </a:rPr>
              <a:t>CASE 02 ｜ 料理講師（専門家）</a:t>
            </a:r>
            <a:endParaRPr lang="en-US" sz="1050" dirty="0"/>
          </a:p>
        </p:txBody>
      </p:sp>
      <p:sp>
        <p:nvSpPr>
          <p:cNvPr id="10" name="Text 8"/>
          <p:cNvSpPr/>
          <p:nvPr/>
        </p:nvSpPr>
        <p:spPr>
          <a:xfrm>
            <a:off x="640080" y="3364992"/>
            <a:ext cx="4023360" cy="1188720"/>
          </a:xfrm>
          <a:prstGeom prst="rect">
            <a:avLst/>
          </a:prstGeom>
          <a:noFill/>
          <a:ln/>
        </p:spPr>
        <p:txBody>
          <a:bodyPr wrap="square" rtlCol="0" anchor="ctr"/>
          <a:lstStyle/>
          <a:p>
            <a:pPr indent="0" marL="0">
              <a:lnSpc>
                <a:spcPts val="1300"/>
              </a:lnSpc>
              <a:buNone/>
            </a:pPr>
            <a:r>
              <a:rPr lang="en-US" sz="850" dirty="0">
                <a:solidFill>
                  <a:srgbClr val="475569"/>
                </a:solidFill>
                <a:latin typeface="Meiryo" pitchFamily="34" charset="0"/>
                <a:ea typeface="Meiryo" pitchFamily="34" charset="-122"/>
                <a:cs typeface="Meiryo" pitchFamily="34" charset="-120"/>
              </a:rPr>
              <a:t>【Before】 料理日本一の実績があるが、座学講座の構成・シナリオがまとまらず迷子</a:t>
            </a:r>
            <a:endParaRPr lang="en-US" sz="850" dirty="0"/>
          </a:p>
          <a:p>
            <a:pPr indent="0" marL="0">
              <a:lnSpc>
                <a:spcPts val="1300"/>
              </a:lnSpc>
              <a:buNone/>
            </a:pPr>
            <a:r>
              <a:rPr lang="en-US" sz="850" dirty="0">
                <a:solidFill>
                  <a:srgbClr val="475569"/>
                </a:solidFill>
                <a:latin typeface="Meiryo" pitchFamily="34" charset="0"/>
                <a:ea typeface="Meiryo" pitchFamily="34" charset="-122"/>
                <a:cs typeface="Meiryo" pitchFamily="34" charset="-120"/>
              </a:rPr>
              <a:t>【After】 パワポ添削とシナリオ再構築により、ラジオ出演トークがリピートに直結。その後テレビ出演・地元誌ライティングへメディア進出が連鎖！</a:t>
            </a:r>
            <a:endParaRPr lang="en-US" sz="850" dirty="0"/>
          </a:p>
        </p:txBody>
      </p:sp>
      <p:pic>
        <p:nvPicPr>
          <p:cNvPr id="11" name="Image 0" descr="C:\Users\banan\OneDrive\OneDrive\Antigravity西川佳孝_＠ゴリラ\AI_rituto\成功例を渡せ\images\national_expansion_1787442521030.jpg">    </p:cNvPr>
          <p:cNvPicPr>
            <a:picLocks noChangeAspect="1"/>
          </p:cNvPicPr>
          <p:nvPr/>
        </p:nvPicPr>
        <p:blipFill>
          <a:blip r:embed="rId1"/>
          <a:stretch>
            <a:fillRect/>
          </a:stretch>
        </p:blipFill>
        <p:spPr>
          <a:xfrm>
            <a:off x="5029200" y="1234440"/>
            <a:ext cx="3657600" cy="3429000"/>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EFF6FF"/>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CASE STUDY 02</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0F172A"/>
                </a:solidFill>
                <a:latin typeface="Meiryo" pitchFamily="34" charset="0"/>
                <a:ea typeface="Meiryo" pitchFamily="34" charset="-122"/>
                <a:cs typeface="Meiryo" pitchFamily="34" charset="-120"/>
              </a:rPr>
              <a:t>構成が変わるだけで、「　感動　」を生むコンテンツへ化ける。</a:t>
            </a:r>
            <a:endParaRPr lang="en-US" sz="1500" dirty="0"/>
          </a:p>
        </p:txBody>
      </p:sp>
      <p:sp>
        <p:nvSpPr>
          <p:cNvPr id="5" name="Shape 3"/>
          <p:cNvSpPr/>
          <p:nvPr/>
        </p:nvSpPr>
        <p:spPr>
          <a:xfrm>
            <a:off x="457200" y="1234440"/>
            <a:ext cx="4389120" cy="1645920"/>
          </a:xfrm>
          <a:prstGeom prst="rect">
            <a:avLst/>
          </a:prstGeom>
          <a:solidFill>
            <a:srgbClr val="FFFFFF"/>
          </a:solidFill>
          <a:ln w="12700">
            <a:solidFill>
              <a:srgbClr val="3B82F6"/>
            </a:solidFill>
            <a:prstDash val="solid"/>
          </a:ln>
        </p:spPr>
      </p:sp>
      <p:sp>
        <p:nvSpPr>
          <p:cNvPr id="6" name="Text 4"/>
          <p:cNvSpPr/>
          <p:nvPr/>
        </p:nvSpPr>
        <p:spPr>
          <a:xfrm>
            <a:off x="640080" y="1325880"/>
            <a:ext cx="4023360" cy="228600"/>
          </a:xfrm>
          <a:prstGeom prst="rect">
            <a:avLst/>
          </a:prstGeom>
          <a:noFill/>
          <a:ln/>
        </p:spPr>
        <p:txBody>
          <a:bodyPr wrap="square" rtlCol="0" anchor="ctr"/>
          <a:lstStyle/>
          <a:p>
            <a:pPr indent="0" marL="0">
              <a:buNone/>
            </a:pPr>
            <a:r>
              <a:rPr lang="en-US" sz="1050" b="1" dirty="0">
                <a:solidFill>
                  <a:srgbClr val="1D4ED8"/>
                </a:solidFill>
                <a:latin typeface="Meiryo" pitchFamily="34" charset="0"/>
                <a:ea typeface="Meiryo" pitchFamily="34" charset="-122"/>
                <a:cs typeface="Meiryo" pitchFamily="34" charset="-120"/>
              </a:rPr>
              <a:t>CASE 03 ｜ 税理士の講座スライド添削</a:t>
            </a:r>
            <a:endParaRPr lang="en-US" sz="1050" dirty="0"/>
          </a:p>
        </p:txBody>
      </p:sp>
      <p:sp>
        <p:nvSpPr>
          <p:cNvPr id="7" name="Text 5"/>
          <p:cNvSpPr/>
          <p:nvPr/>
        </p:nvSpPr>
        <p:spPr>
          <a:xfrm>
            <a:off x="640080" y="1600200"/>
            <a:ext cx="4023360" cy="1188720"/>
          </a:xfrm>
          <a:prstGeom prst="rect">
            <a:avLst/>
          </a:prstGeom>
          <a:noFill/>
          <a:ln/>
        </p:spPr>
        <p:txBody>
          <a:bodyPr wrap="square" rtlCol="0" anchor="ctr"/>
          <a:lstStyle/>
          <a:p>
            <a:pPr indent="0" marL="0">
              <a:lnSpc>
                <a:spcPts val="1300"/>
              </a:lnSpc>
              <a:buNone/>
            </a:pPr>
            <a:r>
              <a:rPr lang="en-US" sz="850" dirty="0">
                <a:solidFill>
                  <a:srgbClr val="475569"/>
                </a:solidFill>
                <a:latin typeface="Meiryo" pitchFamily="34" charset="0"/>
                <a:ea typeface="Meiryo" pitchFamily="34" charset="-122"/>
                <a:cs typeface="Meiryo" pitchFamily="34" charset="-120"/>
              </a:rPr>
              <a:t>【変化】 専門分野の中身は一切変えず「　シナリオ（伝える順番）　」だけを劇的再構成。</a:t>
            </a:r>
            <a:endParaRPr lang="en-US" sz="850" dirty="0"/>
          </a:p>
          <a:p>
            <a:pPr indent="0" marL="0">
              <a:lnSpc>
                <a:spcPts val="1300"/>
              </a:lnSpc>
              <a:buNone/>
            </a:pPr>
            <a:r>
              <a:rPr lang="en-US" sz="850" dirty="0">
                <a:solidFill>
                  <a:srgbClr val="475569"/>
                </a:solidFill>
                <a:latin typeface="Meiryo" pitchFamily="34" charset="0"/>
                <a:ea typeface="Meiryo" pitchFamily="34" charset="-122"/>
                <a:cs typeface="Meiryo" pitchFamily="34" charset="-120"/>
              </a:rPr>
              <a:t>【成果】 受講生から「ストーリー性があって心が動かされた」「知識と温かさが詰まった素晴らしい講座」と絶賛の嵐。</a:t>
            </a:r>
            <a:endParaRPr lang="en-US" sz="850" dirty="0"/>
          </a:p>
        </p:txBody>
      </p:sp>
      <p:sp>
        <p:nvSpPr>
          <p:cNvPr id="8" name="Shape 6"/>
          <p:cNvSpPr/>
          <p:nvPr/>
        </p:nvSpPr>
        <p:spPr>
          <a:xfrm>
            <a:off x="457200" y="2999232"/>
            <a:ext cx="4389120" cy="1645920"/>
          </a:xfrm>
          <a:prstGeom prst="rect">
            <a:avLst/>
          </a:prstGeom>
          <a:solidFill>
            <a:srgbClr val="FFFFFF"/>
          </a:solidFill>
          <a:ln w="12700">
            <a:solidFill>
              <a:srgbClr val="EC4899"/>
            </a:solidFill>
            <a:prstDash val="solid"/>
          </a:ln>
        </p:spPr>
      </p:sp>
      <p:sp>
        <p:nvSpPr>
          <p:cNvPr id="9" name="Text 7"/>
          <p:cNvSpPr/>
          <p:nvPr/>
        </p:nvSpPr>
        <p:spPr>
          <a:xfrm>
            <a:off x="640080" y="3090672"/>
            <a:ext cx="4023360" cy="228600"/>
          </a:xfrm>
          <a:prstGeom prst="rect">
            <a:avLst/>
          </a:prstGeom>
          <a:noFill/>
          <a:ln/>
        </p:spPr>
        <p:txBody>
          <a:bodyPr wrap="square" rtlCol="0" anchor="ctr"/>
          <a:lstStyle/>
          <a:p>
            <a:pPr indent="0" marL="0">
              <a:buNone/>
            </a:pPr>
            <a:r>
              <a:rPr lang="en-US" sz="1050" b="1" dirty="0">
                <a:solidFill>
                  <a:srgbClr val="BE185D"/>
                </a:solidFill>
                <a:latin typeface="Meiryo" pitchFamily="34" charset="0"/>
                <a:ea typeface="Meiryo" pitchFamily="34" charset="-122"/>
                <a:cs typeface="Meiryo" pitchFamily="34" charset="-120"/>
              </a:rPr>
              <a:t>CASE 04 ｜ 親友の結婚式・乾杯の挨拶</a:t>
            </a:r>
            <a:endParaRPr lang="en-US" sz="1050" dirty="0"/>
          </a:p>
        </p:txBody>
      </p:sp>
      <p:sp>
        <p:nvSpPr>
          <p:cNvPr id="10" name="Text 8"/>
          <p:cNvSpPr/>
          <p:nvPr/>
        </p:nvSpPr>
        <p:spPr>
          <a:xfrm>
            <a:off x="640080" y="3364992"/>
            <a:ext cx="4023360" cy="1188720"/>
          </a:xfrm>
          <a:prstGeom prst="rect">
            <a:avLst/>
          </a:prstGeom>
          <a:noFill/>
          <a:ln/>
        </p:spPr>
        <p:txBody>
          <a:bodyPr wrap="square" rtlCol="0" anchor="ctr"/>
          <a:lstStyle/>
          <a:p>
            <a:pPr indent="0" marL="0">
              <a:lnSpc>
                <a:spcPts val="1300"/>
              </a:lnSpc>
              <a:buNone/>
            </a:pPr>
            <a:r>
              <a:rPr lang="en-US" sz="850" dirty="0">
                <a:solidFill>
                  <a:srgbClr val="475569"/>
                </a:solidFill>
                <a:latin typeface="Meiryo" pitchFamily="34" charset="0"/>
                <a:ea typeface="Meiryo" pitchFamily="34" charset="-122"/>
                <a:cs typeface="Meiryo" pitchFamily="34" charset="-120"/>
              </a:rPr>
              <a:t>【変化】 新郎新婦双方の友人という難しい立場に対し、「　誰に向けて話すか　」という本質から原稿を演出。</a:t>
            </a:r>
            <a:endParaRPr lang="en-US" sz="850" dirty="0"/>
          </a:p>
          <a:p>
            <a:pPr indent="0" marL="0">
              <a:lnSpc>
                <a:spcPts val="1300"/>
              </a:lnSpc>
              <a:buNone/>
            </a:pPr>
            <a:r>
              <a:rPr lang="en-US" sz="850" dirty="0">
                <a:solidFill>
                  <a:srgbClr val="475569"/>
                </a:solidFill>
                <a:latin typeface="Meiryo" pitchFamily="34" charset="0"/>
                <a:ea typeface="Meiryo" pitchFamily="34" charset="-122"/>
                <a:cs typeface="Meiryo" pitchFamily="34" charset="-120"/>
              </a:rPr>
              <a:t>【成果】 会場全体を温かい感動で包み込み、新郎新婦から心からの感謝を獲得。</a:t>
            </a:r>
            <a:endParaRPr lang="en-US" sz="850" dirty="0"/>
          </a:p>
        </p:txBody>
      </p:sp>
      <p:pic>
        <p:nvPicPr>
          <p:cNvPr id="11" name="Image 0" descr="C:\Users\banan\OneDrive\OneDrive\Antigravity西川佳孝_＠ゴリラ\AI_rituto\成功例を渡せ\images\emotional_standing_ovation_1787442569755.jpg">    </p:cNvPr>
          <p:cNvPicPr>
            <a:picLocks noChangeAspect="1"/>
          </p:cNvPicPr>
          <p:nvPr/>
        </p:nvPicPr>
        <p:blipFill>
          <a:blip r:embed="rId1"/>
          <a:stretch>
            <a:fillRect/>
          </a:stretch>
        </p:blipFill>
        <p:spPr>
          <a:xfrm>
            <a:off x="5029200" y="1234440"/>
            <a:ext cx="3657600" cy="3429000"/>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1E293B"/>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60A5FA"/>
                </a:solidFill>
                <a:latin typeface="Meiryo" pitchFamily="34" charset="0"/>
                <a:ea typeface="Meiryo" pitchFamily="34" charset="-122"/>
                <a:cs typeface="Meiryo" pitchFamily="34" charset="-120"/>
              </a:rPr>
              <a:t>CLIENT VOICES</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　同じ内容なのに、構成が変わるだけで講座の価値が一段上がった。　」</a:t>
            </a:r>
            <a:endParaRPr lang="en-US" sz="1500" dirty="0"/>
          </a:p>
        </p:txBody>
      </p:sp>
      <p:sp>
        <p:nvSpPr>
          <p:cNvPr id="5" name="Shape 3"/>
          <p:cNvSpPr/>
          <p:nvPr/>
        </p:nvSpPr>
        <p:spPr>
          <a:xfrm>
            <a:off x="457200" y="1280160"/>
            <a:ext cx="3977640" cy="1554480"/>
          </a:xfrm>
          <a:prstGeom prst="rect">
            <a:avLst/>
          </a:prstGeom>
          <a:solidFill>
            <a:srgbClr val="1E293B"/>
          </a:solidFill>
          <a:ln w="12700">
            <a:solidFill>
              <a:srgbClr val="334155"/>
            </a:solidFill>
            <a:prstDash val="solid"/>
          </a:ln>
        </p:spPr>
      </p:sp>
      <p:sp>
        <p:nvSpPr>
          <p:cNvPr id="6" name="Text 4"/>
          <p:cNvSpPr/>
          <p:nvPr/>
        </p:nvSpPr>
        <p:spPr>
          <a:xfrm>
            <a:off x="594360" y="1371600"/>
            <a:ext cx="3703320" cy="228600"/>
          </a:xfrm>
          <a:prstGeom prst="rect">
            <a:avLst/>
          </a:prstGeom>
          <a:noFill/>
          <a:ln/>
        </p:spPr>
        <p:txBody>
          <a:bodyPr wrap="square" rtlCol="0" anchor="ctr"/>
          <a:lstStyle/>
          <a:p>
            <a:pPr indent="0" marL="0">
              <a:buNone/>
            </a:pPr>
            <a:r>
              <a:rPr lang="en-US" sz="1000" b="1" dirty="0">
                <a:solidFill>
                  <a:srgbClr val="F59E0B"/>
                </a:solidFill>
                <a:latin typeface="Meiryo" pitchFamily="34" charset="0"/>
                <a:ea typeface="Meiryo" pitchFamily="34" charset="-122"/>
                <a:cs typeface="Meiryo" pitchFamily="34" charset="-120"/>
              </a:rPr>
              <a:t>★ 講座の価値が一段上がった</a:t>
            </a:r>
            <a:endParaRPr lang="en-US" sz="1000" dirty="0"/>
          </a:p>
        </p:txBody>
      </p:sp>
      <p:sp>
        <p:nvSpPr>
          <p:cNvPr id="7" name="Text 5"/>
          <p:cNvSpPr/>
          <p:nvPr/>
        </p:nvSpPr>
        <p:spPr>
          <a:xfrm>
            <a:off x="594360" y="1627632"/>
            <a:ext cx="3703320" cy="868680"/>
          </a:xfrm>
          <a:prstGeom prst="rect">
            <a:avLst/>
          </a:prstGeom>
          <a:noFill/>
          <a:ln/>
        </p:spPr>
        <p:txBody>
          <a:bodyPr wrap="square" rtlCol="0" anchor="ctr"/>
          <a:lstStyle/>
          <a:p>
            <a:pPr indent="0" marL="0">
              <a:lnSpc>
                <a:spcPts val="1300"/>
              </a:lnSpc>
              <a:buNone/>
            </a:pPr>
            <a:r>
              <a:rPr lang="en-US" sz="850" dirty="0">
                <a:solidFill>
                  <a:srgbClr val="E2E8F0"/>
                </a:solidFill>
                <a:latin typeface="Meiryo" pitchFamily="34" charset="0"/>
                <a:ea typeface="Meiryo" pitchFamily="34" charset="-122"/>
                <a:cs typeface="Meiryo" pitchFamily="34" charset="-120"/>
              </a:rPr>
              <a:t>「私の専門分野の中身は一切さわっていないのに、構成が変わるだけで『知識が増えてよかった』から『感動した！』へと講座の価値が一段上がりました。」</a:t>
            </a:r>
            <a:endParaRPr lang="en-US" sz="850" dirty="0"/>
          </a:p>
        </p:txBody>
      </p:sp>
      <p:sp>
        <p:nvSpPr>
          <p:cNvPr id="8" name="Text 6"/>
          <p:cNvSpPr/>
          <p:nvPr/>
        </p:nvSpPr>
        <p:spPr>
          <a:xfrm>
            <a:off x="594360" y="2514600"/>
            <a:ext cx="3703320" cy="228600"/>
          </a:xfrm>
          <a:prstGeom prst="rect">
            <a:avLst/>
          </a:prstGeom>
          <a:noFill/>
          <a:ln/>
        </p:spPr>
        <p:txBody>
          <a:bodyPr wrap="square" rtlCol="0" anchor="ctr"/>
          <a:lstStyle/>
          <a:p>
            <a:pPr algn="r" indent="0" marL="0">
              <a:buNone/>
            </a:pPr>
            <a:r>
              <a:rPr lang="en-US" sz="850" dirty="0">
                <a:solidFill>
                  <a:srgbClr val="94A3B8"/>
                </a:solidFill>
                <a:latin typeface="Meiryo" pitchFamily="34" charset="0"/>
                <a:ea typeface="Meiryo" pitchFamily="34" charset="-122"/>
                <a:cs typeface="Meiryo" pitchFamily="34" charset="-120"/>
              </a:rPr>
              <a:t>— 専門講師</a:t>
            </a:r>
            <a:endParaRPr lang="en-US" sz="850" dirty="0"/>
          </a:p>
        </p:txBody>
      </p:sp>
      <p:sp>
        <p:nvSpPr>
          <p:cNvPr id="9" name="Shape 7"/>
          <p:cNvSpPr/>
          <p:nvPr/>
        </p:nvSpPr>
        <p:spPr>
          <a:xfrm>
            <a:off x="4709160" y="1280160"/>
            <a:ext cx="3977640" cy="1554480"/>
          </a:xfrm>
          <a:prstGeom prst="rect">
            <a:avLst/>
          </a:prstGeom>
          <a:solidFill>
            <a:srgbClr val="1E293B"/>
          </a:solidFill>
          <a:ln w="12700">
            <a:solidFill>
              <a:srgbClr val="334155"/>
            </a:solidFill>
            <a:prstDash val="solid"/>
          </a:ln>
        </p:spPr>
      </p:sp>
      <p:sp>
        <p:nvSpPr>
          <p:cNvPr id="10" name="Text 8"/>
          <p:cNvSpPr/>
          <p:nvPr/>
        </p:nvSpPr>
        <p:spPr>
          <a:xfrm>
            <a:off x="4846320" y="1371600"/>
            <a:ext cx="3703320" cy="228600"/>
          </a:xfrm>
          <a:prstGeom prst="rect">
            <a:avLst/>
          </a:prstGeom>
          <a:noFill/>
          <a:ln/>
        </p:spPr>
        <p:txBody>
          <a:bodyPr wrap="square" rtlCol="0" anchor="ctr"/>
          <a:lstStyle/>
          <a:p>
            <a:pPr indent="0" marL="0">
              <a:buNone/>
            </a:pPr>
            <a:r>
              <a:rPr lang="en-US" sz="1000" b="1" dirty="0">
                <a:solidFill>
                  <a:srgbClr val="F59E0B"/>
                </a:solidFill>
                <a:latin typeface="Meiryo" pitchFamily="34" charset="0"/>
                <a:ea typeface="Meiryo" pitchFamily="34" charset="-122"/>
                <a:cs typeface="Meiryo" pitchFamily="34" charset="-120"/>
              </a:rPr>
              <a:t>★ 安心して次の行動に移れる</a:t>
            </a:r>
            <a:endParaRPr lang="en-US" sz="1000" dirty="0"/>
          </a:p>
        </p:txBody>
      </p:sp>
      <p:sp>
        <p:nvSpPr>
          <p:cNvPr id="11" name="Text 9"/>
          <p:cNvSpPr/>
          <p:nvPr/>
        </p:nvSpPr>
        <p:spPr>
          <a:xfrm>
            <a:off x="4846320" y="1627632"/>
            <a:ext cx="3703320" cy="868680"/>
          </a:xfrm>
          <a:prstGeom prst="rect">
            <a:avLst/>
          </a:prstGeom>
          <a:noFill/>
          <a:ln/>
        </p:spPr>
        <p:txBody>
          <a:bodyPr wrap="square" rtlCol="0" anchor="ctr"/>
          <a:lstStyle/>
          <a:p>
            <a:pPr indent="0" marL="0">
              <a:lnSpc>
                <a:spcPts val="1300"/>
              </a:lnSpc>
              <a:buNone/>
            </a:pPr>
            <a:r>
              <a:rPr lang="en-US" sz="850" dirty="0">
                <a:solidFill>
                  <a:srgbClr val="E2E8F0"/>
                </a:solidFill>
                <a:latin typeface="Meiryo" pitchFamily="34" charset="0"/>
                <a:ea typeface="Meiryo" pitchFamily="34" charset="-122"/>
                <a:cs typeface="Meiryo" pitchFamily="34" charset="-120"/>
              </a:rPr>
              <a:t>「聞いてほしいというよりも言ってほしい、言い切ってほしいという想いをゴリラさんに託している。相談すると安心して次の行動に移ることができます。」</a:t>
            </a:r>
            <a:endParaRPr lang="en-US" sz="850" dirty="0"/>
          </a:p>
        </p:txBody>
      </p:sp>
      <p:sp>
        <p:nvSpPr>
          <p:cNvPr id="12" name="Text 10"/>
          <p:cNvSpPr/>
          <p:nvPr/>
        </p:nvSpPr>
        <p:spPr>
          <a:xfrm>
            <a:off x="4846320" y="2514600"/>
            <a:ext cx="3703320" cy="228600"/>
          </a:xfrm>
          <a:prstGeom prst="rect">
            <a:avLst/>
          </a:prstGeom>
          <a:noFill/>
          <a:ln/>
        </p:spPr>
        <p:txBody>
          <a:bodyPr wrap="square" rtlCol="0" anchor="ctr"/>
          <a:lstStyle/>
          <a:p>
            <a:pPr algn="r" indent="0" marL="0">
              <a:buNone/>
            </a:pPr>
            <a:r>
              <a:rPr lang="en-US" sz="850" dirty="0">
                <a:solidFill>
                  <a:srgbClr val="94A3B8"/>
                </a:solidFill>
                <a:latin typeface="Meiryo" pitchFamily="34" charset="0"/>
                <a:ea typeface="Meiryo" pitchFamily="34" charset="-122"/>
                <a:cs typeface="Meiryo" pitchFamily="34" charset="-120"/>
              </a:rPr>
              <a:t>— 個人事業主</a:t>
            </a:r>
            <a:endParaRPr lang="en-US" sz="850" dirty="0"/>
          </a:p>
        </p:txBody>
      </p:sp>
      <p:sp>
        <p:nvSpPr>
          <p:cNvPr id="13" name="Shape 11"/>
          <p:cNvSpPr/>
          <p:nvPr/>
        </p:nvSpPr>
        <p:spPr>
          <a:xfrm>
            <a:off x="457200" y="2971800"/>
            <a:ext cx="3977640" cy="1554480"/>
          </a:xfrm>
          <a:prstGeom prst="rect">
            <a:avLst/>
          </a:prstGeom>
          <a:solidFill>
            <a:srgbClr val="1E293B"/>
          </a:solidFill>
          <a:ln w="12700">
            <a:solidFill>
              <a:srgbClr val="334155"/>
            </a:solidFill>
            <a:prstDash val="solid"/>
          </a:ln>
        </p:spPr>
      </p:sp>
      <p:sp>
        <p:nvSpPr>
          <p:cNvPr id="14" name="Text 12"/>
          <p:cNvSpPr/>
          <p:nvPr/>
        </p:nvSpPr>
        <p:spPr>
          <a:xfrm>
            <a:off x="594360" y="3063240"/>
            <a:ext cx="3703320" cy="228600"/>
          </a:xfrm>
          <a:prstGeom prst="rect">
            <a:avLst/>
          </a:prstGeom>
          <a:noFill/>
          <a:ln/>
        </p:spPr>
        <p:txBody>
          <a:bodyPr wrap="square" rtlCol="0" anchor="ctr"/>
          <a:lstStyle/>
          <a:p>
            <a:pPr indent="0" marL="0">
              <a:buNone/>
            </a:pPr>
            <a:r>
              <a:rPr lang="en-US" sz="1000" b="1" dirty="0">
                <a:solidFill>
                  <a:srgbClr val="F59E0B"/>
                </a:solidFill>
                <a:latin typeface="Meiryo" pitchFamily="34" charset="0"/>
                <a:ea typeface="Meiryo" pitchFamily="34" charset="-122"/>
                <a:cs typeface="Meiryo" pitchFamily="34" charset="-120"/>
              </a:rPr>
              <a:t>★ 共感フックで心が動く</a:t>
            </a:r>
            <a:endParaRPr lang="en-US" sz="1000" dirty="0"/>
          </a:p>
        </p:txBody>
      </p:sp>
      <p:sp>
        <p:nvSpPr>
          <p:cNvPr id="15" name="Text 13"/>
          <p:cNvSpPr/>
          <p:nvPr/>
        </p:nvSpPr>
        <p:spPr>
          <a:xfrm>
            <a:off x="594360" y="3319272"/>
            <a:ext cx="3703320" cy="868680"/>
          </a:xfrm>
          <a:prstGeom prst="rect">
            <a:avLst/>
          </a:prstGeom>
          <a:noFill/>
          <a:ln/>
        </p:spPr>
        <p:txBody>
          <a:bodyPr wrap="square" rtlCol="0" anchor="ctr"/>
          <a:lstStyle/>
          <a:p>
            <a:pPr indent="0" marL="0">
              <a:lnSpc>
                <a:spcPts val="1300"/>
              </a:lnSpc>
              <a:buNone/>
            </a:pPr>
            <a:r>
              <a:rPr lang="en-US" sz="850" dirty="0">
                <a:solidFill>
                  <a:srgbClr val="E2E8F0"/>
                </a:solidFill>
                <a:latin typeface="Meiryo" pitchFamily="34" charset="0"/>
                <a:ea typeface="Meiryo" pitchFamily="34" charset="-122"/>
                <a:cs typeface="Meiryo" pitchFamily="34" charset="-120"/>
              </a:rPr>
              <a:t>「『小学生にもわかる言葉で伝えること』『最初に共感のフックをかけること』など、自分一人では気づけなかった具体的なアドバイスでした。」</a:t>
            </a:r>
            <a:endParaRPr lang="en-US" sz="850" dirty="0"/>
          </a:p>
        </p:txBody>
      </p:sp>
      <p:sp>
        <p:nvSpPr>
          <p:cNvPr id="16" name="Text 14"/>
          <p:cNvSpPr/>
          <p:nvPr/>
        </p:nvSpPr>
        <p:spPr>
          <a:xfrm>
            <a:off x="594360" y="4206240"/>
            <a:ext cx="3703320" cy="228600"/>
          </a:xfrm>
          <a:prstGeom prst="rect">
            <a:avLst/>
          </a:prstGeom>
          <a:noFill/>
          <a:ln/>
        </p:spPr>
        <p:txBody>
          <a:bodyPr wrap="square" rtlCol="0" anchor="ctr"/>
          <a:lstStyle/>
          <a:p>
            <a:pPr algn="r" indent="0" marL="0">
              <a:buNone/>
            </a:pPr>
            <a:r>
              <a:rPr lang="en-US" sz="850" dirty="0">
                <a:solidFill>
                  <a:srgbClr val="94A3B8"/>
                </a:solidFill>
                <a:latin typeface="Meiryo" pitchFamily="34" charset="0"/>
                <a:ea typeface="Meiryo" pitchFamily="34" charset="-122"/>
                <a:cs typeface="Meiryo" pitchFamily="34" charset="-120"/>
              </a:rPr>
              <a:t>— 40代女性</a:t>
            </a:r>
            <a:endParaRPr lang="en-US" sz="850" dirty="0"/>
          </a:p>
        </p:txBody>
      </p:sp>
      <p:sp>
        <p:nvSpPr>
          <p:cNvPr id="17" name="Shape 15"/>
          <p:cNvSpPr/>
          <p:nvPr/>
        </p:nvSpPr>
        <p:spPr>
          <a:xfrm>
            <a:off x="4709160" y="2971800"/>
            <a:ext cx="3977640" cy="1554480"/>
          </a:xfrm>
          <a:prstGeom prst="rect">
            <a:avLst/>
          </a:prstGeom>
          <a:solidFill>
            <a:srgbClr val="1E293B"/>
          </a:solidFill>
          <a:ln w="12700">
            <a:solidFill>
              <a:srgbClr val="334155"/>
            </a:solidFill>
            <a:prstDash val="solid"/>
          </a:ln>
        </p:spPr>
      </p:sp>
      <p:sp>
        <p:nvSpPr>
          <p:cNvPr id="18" name="Text 16"/>
          <p:cNvSpPr/>
          <p:nvPr/>
        </p:nvSpPr>
        <p:spPr>
          <a:xfrm>
            <a:off x="4846320" y="3063240"/>
            <a:ext cx="3703320" cy="228600"/>
          </a:xfrm>
          <a:prstGeom prst="rect">
            <a:avLst/>
          </a:prstGeom>
          <a:noFill/>
          <a:ln/>
        </p:spPr>
        <p:txBody>
          <a:bodyPr wrap="square" rtlCol="0" anchor="ctr"/>
          <a:lstStyle/>
          <a:p>
            <a:pPr indent="0" marL="0">
              <a:buNone/>
            </a:pPr>
            <a:r>
              <a:rPr lang="en-US" sz="1000" b="1" dirty="0">
                <a:solidFill>
                  <a:srgbClr val="F59E0B"/>
                </a:solidFill>
                <a:latin typeface="Meiryo" pitchFamily="34" charset="0"/>
                <a:ea typeface="Meiryo" pitchFamily="34" charset="-122"/>
                <a:cs typeface="Meiryo" pitchFamily="34" charset="-120"/>
              </a:rPr>
              <a:t>★ 根本原因とプレゼン観が変わった</a:t>
            </a:r>
            <a:endParaRPr lang="en-US" sz="1000" dirty="0"/>
          </a:p>
        </p:txBody>
      </p:sp>
      <p:sp>
        <p:nvSpPr>
          <p:cNvPr id="19" name="Text 17"/>
          <p:cNvSpPr/>
          <p:nvPr/>
        </p:nvSpPr>
        <p:spPr>
          <a:xfrm>
            <a:off x="4846320" y="3319272"/>
            <a:ext cx="3703320" cy="868680"/>
          </a:xfrm>
          <a:prstGeom prst="rect">
            <a:avLst/>
          </a:prstGeom>
          <a:noFill/>
          <a:ln/>
        </p:spPr>
        <p:txBody>
          <a:bodyPr wrap="square" rtlCol="0" anchor="ctr"/>
          <a:lstStyle/>
          <a:p>
            <a:pPr indent="0" marL="0">
              <a:lnSpc>
                <a:spcPts val="1300"/>
              </a:lnSpc>
              <a:buNone/>
            </a:pPr>
            <a:r>
              <a:rPr lang="en-US" sz="850" dirty="0">
                <a:solidFill>
                  <a:srgbClr val="E2E8F0"/>
                </a:solidFill>
                <a:latin typeface="Meiryo" pitchFamily="34" charset="0"/>
                <a:ea typeface="Meiryo" pitchFamily="34" charset="-122"/>
                <a:cs typeface="Meiryo" pitchFamily="34" charset="-120"/>
              </a:rPr>
              <a:t>「座学での悩みの根本原因や、プレゼンに対する考え方そのものが大きく変わりました。パワポ添削のビフォーアフターで劇的な変化を体感できました。」</a:t>
            </a:r>
            <a:endParaRPr lang="en-US" sz="850" dirty="0"/>
          </a:p>
        </p:txBody>
      </p:sp>
      <p:sp>
        <p:nvSpPr>
          <p:cNvPr id="20" name="Text 18"/>
          <p:cNvSpPr/>
          <p:nvPr/>
        </p:nvSpPr>
        <p:spPr>
          <a:xfrm>
            <a:off x="4846320" y="4206240"/>
            <a:ext cx="3703320" cy="228600"/>
          </a:xfrm>
          <a:prstGeom prst="rect">
            <a:avLst/>
          </a:prstGeom>
          <a:noFill/>
          <a:ln/>
        </p:spPr>
        <p:txBody>
          <a:bodyPr wrap="square" rtlCol="0" anchor="ctr"/>
          <a:lstStyle/>
          <a:p>
            <a:pPr algn="r" indent="0" marL="0">
              <a:buNone/>
            </a:pPr>
            <a:r>
              <a:rPr lang="en-US" sz="850" dirty="0">
                <a:solidFill>
                  <a:srgbClr val="94A3B8"/>
                </a:solidFill>
                <a:latin typeface="Meiryo" pitchFamily="34" charset="0"/>
                <a:ea typeface="Meiryo" pitchFamily="34" charset="-122"/>
                <a:cs typeface="Meiryo" pitchFamily="34" charset="-120"/>
              </a:rPr>
              <a:t>— ワークショップ主催者</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EFF6FF"/>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SERVICE MENU</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0F172A"/>
                </a:solidFill>
                <a:latin typeface="Meiryo" pitchFamily="34" charset="0"/>
                <a:ea typeface="Meiryo" pitchFamily="34" charset="-122"/>
                <a:cs typeface="Meiryo" pitchFamily="34" charset="-120"/>
              </a:rPr>
              <a:t>目的とフェーズに合わせた3つのプロデュース。</a:t>
            </a:r>
            <a:endParaRPr lang="en-US" sz="1500" dirty="0"/>
          </a:p>
        </p:txBody>
      </p:sp>
      <p:sp>
        <p:nvSpPr>
          <p:cNvPr id="5" name="Shape 3"/>
          <p:cNvSpPr/>
          <p:nvPr/>
        </p:nvSpPr>
        <p:spPr>
          <a:xfrm>
            <a:off x="457200" y="1280160"/>
            <a:ext cx="2596896" cy="3383280"/>
          </a:xfrm>
          <a:prstGeom prst="rect">
            <a:avLst/>
          </a:prstGeom>
          <a:solidFill>
            <a:srgbClr val="FFFFFF"/>
          </a:solidFill>
          <a:ln w="12700">
            <a:solidFill>
              <a:srgbClr val="E2E8F0"/>
            </a:solidFill>
            <a:prstDash val="solid"/>
          </a:ln>
        </p:spPr>
      </p:sp>
      <p:sp>
        <p:nvSpPr>
          <p:cNvPr id="6" name="Shape 4"/>
          <p:cNvSpPr/>
          <p:nvPr/>
        </p:nvSpPr>
        <p:spPr>
          <a:xfrm>
            <a:off x="457200" y="1280160"/>
            <a:ext cx="2596896" cy="411480"/>
          </a:xfrm>
          <a:prstGeom prst="rect">
            <a:avLst/>
          </a:prstGeom>
          <a:solidFill>
            <a:srgbClr val="3B82F6"/>
          </a:solidFill>
          <a:ln/>
        </p:spPr>
      </p:sp>
      <p:sp>
        <p:nvSpPr>
          <p:cNvPr id="7" name="Text 5"/>
          <p:cNvSpPr/>
          <p:nvPr/>
        </p:nvSpPr>
        <p:spPr>
          <a:xfrm>
            <a:off x="457200" y="1280160"/>
            <a:ext cx="2596896" cy="411480"/>
          </a:xfrm>
          <a:prstGeom prst="rect">
            <a:avLst/>
          </a:prstGeom>
          <a:noFill/>
          <a:ln/>
        </p:spPr>
        <p:txBody>
          <a:bodyPr wrap="square"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MENU 01 ｜ 個別伴走</a:t>
            </a:r>
            <a:endParaRPr lang="en-US" sz="1000" dirty="0"/>
          </a:p>
        </p:txBody>
      </p:sp>
      <p:sp>
        <p:nvSpPr>
          <p:cNvPr id="8" name="Text 6"/>
          <p:cNvSpPr/>
          <p:nvPr/>
        </p:nvSpPr>
        <p:spPr>
          <a:xfrm>
            <a:off x="594360" y="1828800"/>
            <a:ext cx="2322576" cy="457200"/>
          </a:xfrm>
          <a:prstGeom prst="rect">
            <a:avLst/>
          </a:prstGeom>
          <a:noFill/>
          <a:ln/>
        </p:spPr>
        <p:txBody>
          <a:bodyPr wrap="square" rtlCol="0" anchor="ctr"/>
          <a:lstStyle/>
          <a:p>
            <a:pPr algn="ctr" indent="0" marL="0">
              <a:buNone/>
            </a:pPr>
            <a:r>
              <a:rPr lang="en-US" sz="1150" b="1" dirty="0">
                <a:solidFill>
                  <a:srgbClr val="0F172A"/>
                </a:solidFill>
                <a:latin typeface="Meiryo" pitchFamily="34" charset="0"/>
                <a:ea typeface="Meiryo" pitchFamily="34" charset="-122"/>
                <a:cs typeface="Meiryo" pitchFamily="34" charset="-120"/>
              </a:rPr>
              <a:t>エグゼクティブ・プレゼン演出</a:t>
            </a:r>
            <a:endParaRPr lang="en-US" sz="1150" dirty="0"/>
          </a:p>
        </p:txBody>
      </p:sp>
      <p:sp>
        <p:nvSpPr>
          <p:cNvPr id="9" name="Text 7"/>
          <p:cNvSpPr/>
          <p:nvPr/>
        </p:nvSpPr>
        <p:spPr>
          <a:xfrm>
            <a:off x="594360" y="2331720"/>
            <a:ext cx="2322576" cy="228600"/>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対象：経営者・営業・士業・講師</a:t>
            </a:r>
            <a:endParaRPr lang="en-US" sz="850" dirty="0"/>
          </a:p>
        </p:txBody>
      </p:sp>
      <p:sp>
        <p:nvSpPr>
          <p:cNvPr id="10" name="Text 8"/>
          <p:cNvSpPr/>
          <p:nvPr/>
        </p:nvSpPr>
        <p:spPr>
          <a:xfrm>
            <a:off x="594360" y="2606040"/>
            <a:ext cx="2322576" cy="1920240"/>
          </a:xfrm>
          <a:prstGeom prst="rect">
            <a:avLst/>
          </a:prstGeom>
          <a:noFill/>
          <a:ln/>
        </p:spPr>
        <p:txBody>
          <a:bodyPr wrap="square" rtlCol="0" anchor="ctr"/>
          <a:lstStyle/>
          <a:p>
            <a:pPr indent="0" marL="0">
              <a:lnSpc>
                <a:spcPts val="1500"/>
              </a:lnSpc>
              <a:buNone/>
            </a:pPr>
            <a:r>
              <a:rPr lang="en-US" sz="900" dirty="0">
                <a:solidFill>
                  <a:srgbClr val="475569"/>
                </a:solidFill>
                <a:latin typeface="Meiryo" pitchFamily="34" charset="0"/>
                <a:ea typeface="Meiryo" pitchFamily="34" charset="-122"/>
                <a:cs typeface="Meiryo" pitchFamily="34" charset="-120"/>
              </a:rPr>
              <a:t>ビジネス商談・講演・プレゼンのシナリオ策定からスライド制作まで完全伴走プロデュース。勝負どころで確実に結果を出すためのマンツーマン支援。</a:t>
            </a:r>
            <a:endParaRPr lang="en-US" sz="900" dirty="0"/>
          </a:p>
        </p:txBody>
      </p:sp>
      <p:sp>
        <p:nvSpPr>
          <p:cNvPr id="11" name="Shape 9"/>
          <p:cNvSpPr/>
          <p:nvPr/>
        </p:nvSpPr>
        <p:spPr>
          <a:xfrm>
            <a:off x="3273552" y="1280160"/>
            <a:ext cx="2596896" cy="3383280"/>
          </a:xfrm>
          <a:prstGeom prst="rect">
            <a:avLst/>
          </a:prstGeom>
          <a:solidFill>
            <a:srgbClr val="FFFFFF"/>
          </a:solidFill>
          <a:ln w="12700">
            <a:solidFill>
              <a:srgbClr val="E2E8F0"/>
            </a:solidFill>
            <a:prstDash val="solid"/>
          </a:ln>
        </p:spPr>
      </p:sp>
      <p:sp>
        <p:nvSpPr>
          <p:cNvPr id="12" name="Shape 10"/>
          <p:cNvSpPr/>
          <p:nvPr/>
        </p:nvSpPr>
        <p:spPr>
          <a:xfrm>
            <a:off x="3273552" y="1280160"/>
            <a:ext cx="2596896" cy="411480"/>
          </a:xfrm>
          <a:prstGeom prst="rect">
            <a:avLst/>
          </a:prstGeom>
          <a:solidFill>
            <a:srgbClr val="D97706"/>
          </a:solidFill>
          <a:ln/>
        </p:spPr>
      </p:sp>
      <p:sp>
        <p:nvSpPr>
          <p:cNvPr id="13" name="Text 11"/>
          <p:cNvSpPr/>
          <p:nvPr/>
        </p:nvSpPr>
        <p:spPr>
          <a:xfrm>
            <a:off x="3273552" y="1280160"/>
            <a:ext cx="2596896" cy="411480"/>
          </a:xfrm>
          <a:prstGeom prst="rect">
            <a:avLst/>
          </a:prstGeom>
          <a:noFill/>
          <a:ln/>
        </p:spPr>
        <p:txBody>
          <a:bodyPr wrap="square"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MENU 02 ｜ 企業研修</a:t>
            </a:r>
            <a:endParaRPr lang="en-US" sz="1000" dirty="0"/>
          </a:p>
        </p:txBody>
      </p:sp>
      <p:sp>
        <p:nvSpPr>
          <p:cNvPr id="14" name="Text 12"/>
          <p:cNvSpPr/>
          <p:nvPr/>
        </p:nvSpPr>
        <p:spPr>
          <a:xfrm>
            <a:off x="3410712" y="1828800"/>
            <a:ext cx="2322576" cy="457200"/>
          </a:xfrm>
          <a:prstGeom prst="rect">
            <a:avLst/>
          </a:prstGeom>
          <a:noFill/>
          <a:ln/>
        </p:spPr>
        <p:txBody>
          <a:bodyPr wrap="square" rtlCol="0" anchor="ctr"/>
          <a:lstStyle/>
          <a:p>
            <a:pPr algn="ctr" indent="0" marL="0">
              <a:buNone/>
            </a:pPr>
            <a:r>
              <a:rPr lang="en-US" sz="1150" b="1" dirty="0">
                <a:solidFill>
                  <a:srgbClr val="0F172A"/>
                </a:solidFill>
                <a:latin typeface="Meiryo" pitchFamily="34" charset="0"/>
                <a:ea typeface="Meiryo" pitchFamily="34" charset="-122"/>
                <a:cs typeface="Meiryo" pitchFamily="34" charset="-120"/>
              </a:rPr>
              <a:t>「　伝わる力　」実装プログラム</a:t>
            </a:r>
            <a:endParaRPr lang="en-US" sz="1150" dirty="0"/>
          </a:p>
        </p:txBody>
      </p:sp>
      <p:sp>
        <p:nvSpPr>
          <p:cNvPr id="15" name="Text 13"/>
          <p:cNvSpPr/>
          <p:nvPr/>
        </p:nvSpPr>
        <p:spPr>
          <a:xfrm>
            <a:off x="3410712" y="2331720"/>
            <a:ext cx="2322576" cy="228600"/>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対象：企業・チーム・組織</a:t>
            </a:r>
            <a:endParaRPr lang="en-US" sz="850" dirty="0"/>
          </a:p>
        </p:txBody>
      </p:sp>
      <p:sp>
        <p:nvSpPr>
          <p:cNvPr id="16" name="Text 14"/>
          <p:cNvSpPr/>
          <p:nvPr/>
        </p:nvSpPr>
        <p:spPr>
          <a:xfrm>
            <a:off x="3410712" y="2606040"/>
            <a:ext cx="2322576" cy="1920240"/>
          </a:xfrm>
          <a:prstGeom prst="rect">
            <a:avLst/>
          </a:prstGeom>
          <a:noFill/>
          <a:ln/>
        </p:spPr>
        <p:txBody>
          <a:bodyPr wrap="square" rtlCol="0" anchor="ctr"/>
          <a:lstStyle/>
          <a:p>
            <a:pPr indent="0" marL="0">
              <a:lnSpc>
                <a:spcPts val="1500"/>
              </a:lnSpc>
              <a:buNone/>
            </a:pPr>
            <a:r>
              <a:rPr lang="en-US" sz="900" dirty="0">
                <a:solidFill>
                  <a:srgbClr val="475569"/>
                </a:solidFill>
                <a:latin typeface="Meiryo" pitchFamily="34" charset="0"/>
                <a:ea typeface="Meiryo" pitchFamily="34" charset="-122"/>
                <a:cs typeface="Meiryo" pitchFamily="34" charset="-120"/>
              </a:rPr>
              <a:t>結論ファースト研修 ／ 話し方・プレゼンテーション研修 ／ 商談シナリオ作成ワークショップ。組織全体のコミュニケーション力と商談成約率を底上げ。</a:t>
            </a:r>
            <a:endParaRPr lang="en-US" sz="900" dirty="0"/>
          </a:p>
        </p:txBody>
      </p:sp>
      <p:sp>
        <p:nvSpPr>
          <p:cNvPr id="17" name="Shape 15"/>
          <p:cNvSpPr/>
          <p:nvPr/>
        </p:nvSpPr>
        <p:spPr>
          <a:xfrm>
            <a:off x="6089904" y="1280160"/>
            <a:ext cx="2596896" cy="3383280"/>
          </a:xfrm>
          <a:prstGeom prst="rect">
            <a:avLst/>
          </a:prstGeom>
          <a:solidFill>
            <a:srgbClr val="FFFFFF"/>
          </a:solidFill>
          <a:ln w="12700">
            <a:solidFill>
              <a:srgbClr val="E2E8F0"/>
            </a:solidFill>
            <a:prstDash val="solid"/>
          </a:ln>
        </p:spPr>
      </p:sp>
      <p:sp>
        <p:nvSpPr>
          <p:cNvPr id="18" name="Shape 16"/>
          <p:cNvSpPr/>
          <p:nvPr/>
        </p:nvSpPr>
        <p:spPr>
          <a:xfrm>
            <a:off x="6089904" y="1280160"/>
            <a:ext cx="2596896" cy="411480"/>
          </a:xfrm>
          <a:prstGeom prst="rect">
            <a:avLst/>
          </a:prstGeom>
          <a:solidFill>
            <a:srgbClr val="10B981"/>
          </a:solidFill>
          <a:ln/>
        </p:spPr>
      </p:sp>
      <p:sp>
        <p:nvSpPr>
          <p:cNvPr id="19" name="Text 17"/>
          <p:cNvSpPr/>
          <p:nvPr/>
        </p:nvSpPr>
        <p:spPr>
          <a:xfrm>
            <a:off x="6089904" y="1280160"/>
            <a:ext cx="2596896" cy="411480"/>
          </a:xfrm>
          <a:prstGeom prst="rect">
            <a:avLst/>
          </a:prstGeom>
          <a:noFill/>
          <a:ln/>
        </p:spPr>
        <p:txBody>
          <a:bodyPr wrap="square"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MENU 03 ｜ 単発・集中添削</a:t>
            </a:r>
            <a:endParaRPr lang="en-US" sz="1000" dirty="0"/>
          </a:p>
        </p:txBody>
      </p:sp>
      <p:sp>
        <p:nvSpPr>
          <p:cNvPr id="20" name="Text 18"/>
          <p:cNvSpPr/>
          <p:nvPr/>
        </p:nvSpPr>
        <p:spPr>
          <a:xfrm>
            <a:off x="6227064" y="1828800"/>
            <a:ext cx="2322576" cy="457200"/>
          </a:xfrm>
          <a:prstGeom prst="rect">
            <a:avLst/>
          </a:prstGeom>
          <a:noFill/>
          <a:ln/>
        </p:spPr>
        <p:txBody>
          <a:bodyPr wrap="square" rtlCol="0" anchor="ctr"/>
          <a:lstStyle/>
          <a:p>
            <a:pPr algn="ctr" indent="0" marL="0">
              <a:buNone/>
            </a:pPr>
            <a:r>
              <a:rPr lang="en-US" sz="1150" b="1" dirty="0">
                <a:solidFill>
                  <a:srgbClr val="0F172A"/>
                </a:solidFill>
                <a:latin typeface="Meiryo" pitchFamily="34" charset="0"/>
                <a:ea typeface="Meiryo" pitchFamily="34" charset="-122"/>
                <a:cs typeface="Meiryo" pitchFamily="34" charset="-120"/>
              </a:rPr>
              <a:t>劇的Reプレゼン 集中クリニック</a:t>
            </a:r>
            <a:endParaRPr lang="en-US" sz="1150" dirty="0"/>
          </a:p>
        </p:txBody>
      </p:sp>
      <p:sp>
        <p:nvSpPr>
          <p:cNvPr id="21" name="Text 19"/>
          <p:cNvSpPr/>
          <p:nvPr/>
        </p:nvSpPr>
        <p:spPr>
          <a:xfrm>
            <a:off x="6227064" y="2331720"/>
            <a:ext cx="2322576" cy="228600"/>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対象：スライドや原稿をお持ちの方</a:t>
            </a:r>
            <a:endParaRPr lang="en-US" sz="850" dirty="0"/>
          </a:p>
        </p:txBody>
      </p:sp>
      <p:sp>
        <p:nvSpPr>
          <p:cNvPr id="22" name="Text 20"/>
          <p:cNvSpPr/>
          <p:nvPr/>
        </p:nvSpPr>
        <p:spPr>
          <a:xfrm>
            <a:off x="6227064" y="2606040"/>
            <a:ext cx="2322576" cy="1920240"/>
          </a:xfrm>
          <a:prstGeom prst="rect">
            <a:avLst/>
          </a:prstGeom>
          <a:noFill/>
          <a:ln/>
        </p:spPr>
        <p:txBody>
          <a:bodyPr wrap="square" rtlCol="0" anchor="ctr"/>
          <a:lstStyle/>
          <a:p>
            <a:pPr indent="0" marL="0">
              <a:lnSpc>
                <a:spcPts val="1500"/>
              </a:lnSpc>
              <a:buNone/>
            </a:pPr>
            <a:r>
              <a:rPr lang="en-US" sz="900" dirty="0">
                <a:solidFill>
                  <a:srgbClr val="475569"/>
                </a:solidFill>
                <a:latin typeface="Meiryo" pitchFamily="34" charset="0"/>
                <a:ea typeface="Meiryo" pitchFamily="34" charset="-122"/>
                <a:cs typeface="Meiryo" pitchFamily="34" charset="-120"/>
              </a:rPr>
              <a:t>PowerPoint（プレゼン）資料・スピーチ原稿を最短で「　勝負プレゼン　」へ甦らせるカスタマイズ添削。内容を保ったまま劇的ビフォーアフターを実現。</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EFF6FF"/>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DIAGNOSTIC : 伝わらないプレゼン度チェック</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0F172A"/>
                </a:solidFill>
                <a:latin typeface="Meiryo" pitchFamily="34" charset="0"/>
                <a:ea typeface="Meiryo" pitchFamily="34" charset="-122"/>
                <a:cs typeface="Meiryo" pitchFamily="34" charset="-120"/>
              </a:rPr>
              <a:t>あなたのプレゼン・資料は、この症状に当てはまっていませんか？</a:t>
            </a:r>
            <a:endParaRPr lang="en-US" sz="1500" dirty="0"/>
          </a:p>
        </p:txBody>
      </p:sp>
      <p:sp>
        <p:nvSpPr>
          <p:cNvPr id="5" name="Shape 3"/>
          <p:cNvSpPr/>
          <p:nvPr/>
        </p:nvSpPr>
        <p:spPr>
          <a:xfrm>
            <a:off x="457200" y="1234440"/>
            <a:ext cx="8229600" cy="420624"/>
          </a:xfrm>
          <a:prstGeom prst="rect">
            <a:avLst/>
          </a:prstGeom>
          <a:solidFill>
            <a:srgbClr val="FFFFFF"/>
          </a:solidFill>
          <a:ln w="12700">
            <a:solidFill>
              <a:srgbClr val="E2E8F0"/>
            </a:solidFill>
            <a:prstDash val="solid"/>
          </a:ln>
        </p:spPr>
      </p:sp>
      <p:sp>
        <p:nvSpPr>
          <p:cNvPr id="6" name="Shape 4"/>
          <p:cNvSpPr/>
          <p:nvPr/>
        </p:nvSpPr>
        <p:spPr>
          <a:xfrm>
            <a:off x="640080" y="1335024"/>
            <a:ext cx="219456" cy="219456"/>
          </a:xfrm>
          <a:prstGeom prst="rect">
            <a:avLst/>
          </a:prstGeom>
          <a:solidFill>
            <a:srgbClr val="EFF6FF"/>
          </a:solidFill>
          <a:ln w="19050">
            <a:solidFill>
              <a:srgbClr val="3B82F6"/>
            </a:solidFill>
            <a:prstDash val="solid"/>
          </a:ln>
        </p:spPr>
      </p:sp>
      <p:sp>
        <p:nvSpPr>
          <p:cNvPr id="7" name="Text 5"/>
          <p:cNvSpPr/>
          <p:nvPr/>
        </p:nvSpPr>
        <p:spPr>
          <a:xfrm>
            <a:off x="960120" y="1307592"/>
            <a:ext cx="7589520" cy="27432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冒頭3分以内に「　相手が一番知りたい結論　」を言えていない</a:t>
            </a:r>
            <a:endParaRPr lang="en-US" sz="950" dirty="0"/>
          </a:p>
        </p:txBody>
      </p:sp>
      <p:sp>
        <p:nvSpPr>
          <p:cNvPr id="8" name="Shape 6"/>
          <p:cNvSpPr/>
          <p:nvPr/>
        </p:nvSpPr>
        <p:spPr>
          <a:xfrm>
            <a:off x="457200" y="1737360"/>
            <a:ext cx="8229600" cy="420624"/>
          </a:xfrm>
          <a:prstGeom prst="rect">
            <a:avLst/>
          </a:prstGeom>
          <a:solidFill>
            <a:srgbClr val="FFFFFF"/>
          </a:solidFill>
          <a:ln w="12700">
            <a:solidFill>
              <a:srgbClr val="E2E8F0"/>
            </a:solidFill>
            <a:prstDash val="solid"/>
          </a:ln>
        </p:spPr>
      </p:sp>
      <p:sp>
        <p:nvSpPr>
          <p:cNvPr id="9" name="Shape 7"/>
          <p:cNvSpPr/>
          <p:nvPr/>
        </p:nvSpPr>
        <p:spPr>
          <a:xfrm>
            <a:off x="640080" y="1837944"/>
            <a:ext cx="219456" cy="219456"/>
          </a:xfrm>
          <a:prstGeom prst="rect">
            <a:avLst/>
          </a:prstGeom>
          <a:solidFill>
            <a:srgbClr val="EFF6FF"/>
          </a:solidFill>
          <a:ln w="19050">
            <a:solidFill>
              <a:srgbClr val="3B82F6"/>
            </a:solidFill>
            <a:prstDash val="solid"/>
          </a:ln>
        </p:spPr>
      </p:sp>
      <p:sp>
        <p:nvSpPr>
          <p:cNvPr id="10" name="Text 8"/>
          <p:cNvSpPr/>
          <p:nvPr/>
        </p:nvSpPr>
        <p:spPr>
          <a:xfrm>
            <a:off x="960120" y="1810512"/>
            <a:ext cx="7589520" cy="27432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専門家として丁寧に説明しているのに、相手の反応が薄い</a:t>
            </a:r>
            <a:endParaRPr lang="en-US" sz="950" dirty="0"/>
          </a:p>
        </p:txBody>
      </p:sp>
      <p:sp>
        <p:nvSpPr>
          <p:cNvPr id="11" name="Shape 9"/>
          <p:cNvSpPr/>
          <p:nvPr/>
        </p:nvSpPr>
        <p:spPr>
          <a:xfrm>
            <a:off x="457200" y="2240280"/>
            <a:ext cx="8229600" cy="420624"/>
          </a:xfrm>
          <a:prstGeom prst="rect">
            <a:avLst/>
          </a:prstGeom>
          <a:solidFill>
            <a:srgbClr val="FFFFFF"/>
          </a:solidFill>
          <a:ln w="12700">
            <a:solidFill>
              <a:srgbClr val="E2E8F0"/>
            </a:solidFill>
            <a:prstDash val="solid"/>
          </a:ln>
        </p:spPr>
      </p:sp>
      <p:sp>
        <p:nvSpPr>
          <p:cNvPr id="12" name="Shape 10"/>
          <p:cNvSpPr/>
          <p:nvPr/>
        </p:nvSpPr>
        <p:spPr>
          <a:xfrm>
            <a:off x="640080" y="2340864"/>
            <a:ext cx="219456" cy="219456"/>
          </a:xfrm>
          <a:prstGeom prst="rect">
            <a:avLst/>
          </a:prstGeom>
          <a:solidFill>
            <a:srgbClr val="EFF6FF"/>
          </a:solidFill>
          <a:ln w="19050">
            <a:solidFill>
              <a:srgbClr val="3B82F6"/>
            </a:solidFill>
            <a:prstDash val="solid"/>
          </a:ln>
        </p:spPr>
      </p:sp>
      <p:sp>
        <p:nvSpPr>
          <p:cNvPr id="13" name="Text 11"/>
          <p:cNvSpPr/>
          <p:nvPr/>
        </p:nvSpPr>
        <p:spPr>
          <a:xfrm>
            <a:off x="960120" y="2313432"/>
            <a:ext cx="7589520" cy="27432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言いたいことがたくさんあって、スライドの情報が整理整頓できない</a:t>
            </a:r>
            <a:endParaRPr lang="en-US" sz="950" dirty="0"/>
          </a:p>
        </p:txBody>
      </p:sp>
      <p:sp>
        <p:nvSpPr>
          <p:cNvPr id="14" name="Shape 12"/>
          <p:cNvSpPr/>
          <p:nvPr/>
        </p:nvSpPr>
        <p:spPr>
          <a:xfrm>
            <a:off x="457200" y="2743200"/>
            <a:ext cx="8229600" cy="420624"/>
          </a:xfrm>
          <a:prstGeom prst="rect">
            <a:avLst/>
          </a:prstGeom>
          <a:solidFill>
            <a:srgbClr val="FFFFFF"/>
          </a:solidFill>
          <a:ln w="12700">
            <a:solidFill>
              <a:srgbClr val="E2E8F0"/>
            </a:solidFill>
            <a:prstDash val="solid"/>
          </a:ln>
        </p:spPr>
      </p:sp>
      <p:sp>
        <p:nvSpPr>
          <p:cNvPr id="15" name="Shape 13"/>
          <p:cNvSpPr/>
          <p:nvPr/>
        </p:nvSpPr>
        <p:spPr>
          <a:xfrm>
            <a:off x="640080" y="2843784"/>
            <a:ext cx="219456" cy="219456"/>
          </a:xfrm>
          <a:prstGeom prst="rect">
            <a:avLst/>
          </a:prstGeom>
          <a:solidFill>
            <a:srgbClr val="EFF6FF"/>
          </a:solidFill>
          <a:ln w="19050">
            <a:solidFill>
              <a:srgbClr val="3B82F6"/>
            </a:solidFill>
            <a:prstDash val="solid"/>
          </a:ln>
        </p:spPr>
      </p:sp>
      <p:sp>
        <p:nvSpPr>
          <p:cNvPr id="16" name="Text 14"/>
          <p:cNvSpPr/>
          <p:nvPr/>
        </p:nvSpPr>
        <p:spPr>
          <a:xfrm>
            <a:off x="960120" y="2816352"/>
            <a:ext cx="7589520" cy="27432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自分の強みや想いを、自分自身が納得できる言葉に落とし込めていない</a:t>
            </a:r>
            <a:endParaRPr lang="en-US" sz="950" dirty="0"/>
          </a:p>
        </p:txBody>
      </p:sp>
      <p:sp>
        <p:nvSpPr>
          <p:cNvPr id="17" name="Shape 15"/>
          <p:cNvSpPr/>
          <p:nvPr/>
        </p:nvSpPr>
        <p:spPr>
          <a:xfrm>
            <a:off x="457200" y="3246120"/>
            <a:ext cx="8229600" cy="420624"/>
          </a:xfrm>
          <a:prstGeom prst="rect">
            <a:avLst/>
          </a:prstGeom>
          <a:solidFill>
            <a:srgbClr val="FFFFFF"/>
          </a:solidFill>
          <a:ln w="12700">
            <a:solidFill>
              <a:srgbClr val="E2E8F0"/>
            </a:solidFill>
            <a:prstDash val="solid"/>
          </a:ln>
        </p:spPr>
      </p:sp>
      <p:sp>
        <p:nvSpPr>
          <p:cNvPr id="18" name="Shape 16"/>
          <p:cNvSpPr/>
          <p:nvPr/>
        </p:nvSpPr>
        <p:spPr>
          <a:xfrm>
            <a:off x="640080" y="3346704"/>
            <a:ext cx="219456" cy="219456"/>
          </a:xfrm>
          <a:prstGeom prst="rect">
            <a:avLst/>
          </a:prstGeom>
          <a:solidFill>
            <a:srgbClr val="EFF6FF"/>
          </a:solidFill>
          <a:ln w="19050">
            <a:solidFill>
              <a:srgbClr val="3B82F6"/>
            </a:solidFill>
            <a:prstDash val="solid"/>
          </a:ln>
        </p:spPr>
      </p:sp>
      <p:sp>
        <p:nvSpPr>
          <p:cNvPr id="19" name="Text 17"/>
          <p:cNvSpPr/>
          <p:nvPr/>
        </p:nvSpPr>
        <p:spPr>
          <a:xfrm>
            <a:off x="960120" y="3319272"/>
            <a:ext cx="7589520" cy="274320"/>
          </a:xfrm>
          <a:prstGeom prst="rect">
            <a:avLst/>
          </a:prstGeom>
          <a:noFill/>
          <a:ln/>
        </p:spPr>
        <p:txBody>
          <a:bodyPr wrap="square" rtlCol="0" anchor="ctr"/>
          <a:lstStyle/>
          <a:p>
            <a:pPr indent="0" marL="0">
              <a:buNone/>
            </a:pPr>
            <a:r>
              <a:rPr lang="en-US" sz="950" b="1" dirty="0">
                <a:solidFill>
                  <a:srgbClr val="0F172A"/>
                </a:solidFill>
                <a:latin typeface="Meiryo" pitchFamily="34" charset="0"/>
                <a:ea typeface="Meiryo" pitchFamily="34" charset="-122"/>
                <a:cs typeface="Meiryo" pitchFamily="34" charset="-120"/>
              </a:rPr>
              <a:t>この内容で大丈夫だろうか、と話し始めるまでいつも不安でドキドキしている</a:t>
            </a:r>
            <a:endParaRPr lang="en-US" sz="950" dirty="0"/>
          </a:p>
        </p:txBody>
      </p:sp>
      <p:sp>
        <p:nvSpPr>
          <p:cNvPr id="20" name="Shape 18"/>
          <p:cNvSpPr/>
          <p:nvPr/>
        </p:nvSpPr>
        <p:spPr>
          <a:xfrm>
            <a:off x="457200" y="3931920"/>
            <a:ext cx="8229600" cy="731520"/>
          </a:xfrm>
          <a:prstGeom prst="rect">
            <a:avLst/>
          </a:prstGeom>
          <a:solidFill>
            <a:srgbClr val="FEF3C7"/>
          </a:solidFill>
          <a:ln w="19050">
            <a:solidFill>
              <a:srgbClr val="F59E0B"/>
            </a:solidFill>
            <a:prstDash val="solid"/>
          </a:ln>
        </p:spPr>
      </p:sp>
      <p:sp>
        <p:nvSpPr>
          <p:cNvPr id="21" name="Text 19"/>
          <p:cNvSpPr/>
          <p:nvPr/>
        </p:nvSpPr>
        <p:spPr>
          <a:xfrm>
            <a:off x="640080" y="4023360"/>
            <a:ext cx="7863840" cy="548640"/>
          </a:xfrm>
          <a:prstGeom prst="rect">
            <a:avLst/>
          </a:prstGeom>
          <a:noFill/>
          <a:ln/>
        </p:spPr>
        <p:txBody>
          <a:bodyPr wrap="square" rtlCol="0" anchor="ctr"/>
          <a:lstStyle/>
          <a:p>
            <a:pPr algn="ctr" indent="0" marL="0">
              <a:buNone/>
            </a:pPr>
            <a:r>
              <a:rPr lang="en-US" sz="1050" b="1" dirty="0">
                <a:solidFill>
                  <a:srgbClr val="92400E"/>
                </a:solidFill>
                <a:latin typeface="Meiryo" pitchFamily="34" charset="0"/>
                <a:ea typeface="Meiryo" pitchFamily="34" charset="-122"/>
                <a:cs typeface="Meiryo" pitchFamily="34" charset="-120"/>
              </a:rPr>
              <a:t>【診断結果】 1つでも該当する場合、内容ではなく「　シナリオの順番　」を見直すだけで劇的に改善します。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74320"/>
            <a:ext cx="2011680" cy="237744"/>
          </a:xfrm>
          <a:prstGeom prst="rect">
            <a:avLst/>
          </a:prstGeom>
          <a:solidFill>
            <a:srgbClr val="1E293B"/>
          </a:solidFill>
          <a:ln w="12700">
            <a:solidFill>
              <a:srgbClr val="3B82F6"/>
            </a:solidFill>
            <a:prstDash val="solid"/>
          </a:ln>
        </p:spPr>
      </p:sp>
      <p:sp>
        <p:nvSpPr>
          <p:cNvPr id="3" name="Text 1"/>
          <p:cNvSpPr/>
          <p:nvPr/>
        </p:nvSpPr>
        <p:spPr>
          <a:xfrm>
            <a:off x="457200" y="274320"/>
            <a:ext cx="2011680" cy="237744"/>
          </a:xfrm>
          <a:prstGeom prst="rect">
            <a:avLst/>
          </a:prstGeom>
          <a:noFill/>
          <a:ln/>
        </p:spPr>
        <p:txBody>
          <a:bodyPr wrap="square" rtlCol="0" anchor="ctr"/>
          <a:lstStyle/>
          <a:p>
            <a:pPr algn="ctr" indent="0" marL="0">
              <a:buNone/>
            </a:pPr>
            <a:r>
              <a:rPr lang="en-US" sz="850" b="1" dirty="0">
                <a:solidFill>
                  <a:srgbClr val="60A5FA"/>
                </a:solidFill>
                <a:latin typeface="Meiryo" pitchFamily="34" charset="0"/>
                <a:ea typeface="Meiryo" pitchFamily="34" charset="-122"/>
                <a:cs typeface="Meiryo" pitchFamily="34" charset="-120"/>
              </a:rPr>
              <a:t>OUR STANCE &amp; INTEGRITY</a:t>
            </a:r>
            <a:endParaRPr lang="en-US" sz="850" dirty="0"/>
          </a:p>
        </p:txBody>
      </p:sp>
      <p:sp>
        <p:nvSpPr>
          <p:cNvPr id="4" name="Text 2"/>
          <p:cNvSpPr/>
          <p:nvPr/>
        </p:nvSpPr>
        <p:spPr>
          <a:xfrm>
            <a:off x="457200" y="548640"/>
            <a:ext cx="8229600" cy="384048"/>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裏技や魔法はありません。あるのは「　誠実な心と技　」の積み重ねだけです。</a:t>
            </a:r>
            <a:endParaRPr lang="en-US" sz="1500" dirty="0"/>
          </a:p>
        </p:txBody>
      </p:sp>
      <p:pic>
        <p:nvPicPr>
          <p:cNvPr id="5" name="Image 0" descr="C:\Users\banan\OneDrive\OneDrive\Antigravity西川佳孝_＠ゴリラ\AI_rituto\成功例を渡せ\images\craftsmanship_diamond_1787442537948.jpg">    </p:cNvPr>
          <p:cNvPicPr>
            <a:picLocks noChangeAspect="1"/>
          </p:cNvPicPr>
          <p:nvPr/>
        </p:nvPicPr>
        <p:blipFill>
          <a:blip r:embed="rId1"/>
          <a:stretch>
            <a:fillRect/>
          </a:stretch>
        </p:blipFill>
        <p:spPr>
          <a:xfrm>
            <a:off x="457200" y="1234440"/>
            <a:ext cx="3474720" cy="3429000"/>
          </a:xfrm>
          <a:prstGeom prst="ellipse">
            <a:avLst/>
          </a:prstGeom>
        </p:spPr>
      </p:pic>
      <p:sp>
        <p:nvSpPr>
          <p:cNvPr id="6" name="Shape 3"/>
          <p:cNvSpPr/>
          <p:nvPr/>
        </p:nvSpPr>
        <p:spPr>
          <a:xfrm>
            <a:off x="4160520" y="1234440"/>
            <a:ext cx="4526280" cy="1078992"/>
          </a:xfrm>
          <a:prstGeom prst="rect">
            <a:avLst/>
          </a:prstGeom>
          <a:solidFill>
            <a:srgbClr val="1E293B"/>
          </a:solidFill>
          <a:ln w="12700">
            <a:solidFill>
              <a:srgbClr val="3B82F6"/>
            </a:solidFill>
            <a:prstDash val="solid"/>
          </a:ln>
        </p:spPr>
      </p:sp>
      <p:sp>
        <p:nvSpPr>
          <p:cNvPr id="7" name="Text 4"/>
          <p:cNvSpPr/>
          <p:nvPr/>
        </p:nvSpPr>
        <p:spPr>
          <a:xfrm>
            <a:off x="4343400" y="1344168"/>
            <a:ext cx="4206240" cy="320040"/>
          </a:xfrm>
          <a:prstGeom prst="rect">
            <a:avLst/>
          </a:prstGeom>
          <a:noFill/>
          <a:ln/>
        </p:spPr>
        <p:txBody>
          <a:bodyPr wrap="square" rtlCol="0" anchor="ctr"/>
          <a:lstStyle/>
          <a:p>
            <a:pPr indent="0" marL="0">
              <a:buNone/>
            </a:pPr>
            <a:r>
              <a:rPr lang="en-US" sz="1000" b="1" dirty="0">
                <a:solidFill>
                  <a:srgbClr val="60A5FA"/>
                </a:solidFill>
                <a:latin typeface="Meiryo" pitchFamily="34" charset="0"/>
                <a:ea typeface="Meiryo" pitchFamily="34" charset="-122"/>
                <a:cs typeface="Meiryo" pitchFamily="34" charset="-120"/>
              </a:rPr>
              <a:t>PROMISE 01 ｜ 耳触りの良いお世辞は言わない</a:t>
            </a:r>
            <a:endParaRPr lang="en-US" sz="1000" dirty="0"/>
          </a:p>
        </p:txBody>
      </p:sp>
      <p:sp>
        <p:nvSpPr>
          <p:cNvPr id="8" name="Text 5"/>
          <p:cNvSpPr/>
          <p:nvPr/>
        </p:nvSpPr>
        <p:spPr>
          <a:xfrm>
            <a:off x="4343400" y="1645920"/>
            <a:ext cx="4206240" cy="594360"/>
          </a:xfrm>
          <a:prstGeom prst="rect">
            <a:avLst/>
          </a:prstGeom>
          <a:noFill/>
          <a:ln/>
        </p:spPr>
        <p:txBody>
          <a:bodyPr wrap="square" rtlCol="0" anchor="ctr"/>
          <a:lstStyle/>
          <a:p>
            <a:pPr indent="0" marL="0">
              <a:lnSpc>
                <a:spcPts val="1300"/>
              </a:lnSpc>
              <a:buNone/>
            </a:pPr>
            <a:r>
              <a:rPr lang="en-US" sz="900" dirty="0">
                <a:solidFill>
                  <a:srgbClr val="CBD5E1"/>
                </a:solidFill>
                <a:latin typeface="Meiryo" pitchFamily="34" charset="0"/>
                <a:ea typeface="Meiryo" pitchFamily="34" charset="-122"/>
                <a:cs typeface="Meiryo" pitchFamily="34" charset="-120"/>
              </a:rPr>
              <a:t>あなたの成果のために、改善点をプロとして率直にお伝えします。</a:t>
            </a:r>
            <a:endParaRPr lang="en-US" sz="900" dirty="0"/>
          </a:p>
        </p:txBody>
      </p:sp>
      <p:sp>
        <p:nvSpPr>
          <p:cNvPr id="9" name="Shape 6"/>
          <p:cNvSpPr/>
          <p:nvPr/>
        </p:nvSpPr>
        <p:spPr>
          <a:xfrm>
            <a:off x="4160520" y="2404872"/>
            <a:ext cx="4526280" cy="1078992"/>
          </a:xfrm>
          <a:prstGeom prst="rect">
            <a:avLst/>
          </a:prstGeom>
          <a:solidFill>
            <a:srgbClr val="1E293B"/>
          </a:solidFill>
          <a:ln w="12700">
            <a:solidFill>
              <a:srgbClr val="3B82F6"/>
            </a:solidFill>
            <a:prstDash val="solid"/>
          </a:ln>
        </p:spPr>
      </p:sp>
      <p:sp>
        <p:nvSpPr>
          <p:cNvPr id="10" name="Text 7"/>
          <p:cNvSpPr/>
          <p:nvPr/>
        </p:nvSpPr>
        <p:spPr>
          <a:xfrm>
            <a:off x="4343400" y="2514600"/>
            <a:ext cx="4206240" cy="320040"/>
          </a:xfrm>
          <a:prstGeom prst="rect">
            <a:avLst/>
          </a:prstGeom>
          <a:noFill/>
          <a:ln/>
        </p:spPr>
        <p:txBody>
          <a:bodyPr wrap="square" rtlCol="0" anchor="ctr"/>
          <a:lstStyle/>
          <a:p>
            <a:pPr indent="0" marL="0">
              <a:buNone/>
            </a:pPr>
            <a:r>
              <a:rPr lang="en-US" sz="1000" b="1" dirty="0">
                <a:solidFill>
                  <a:srgbClr val="60A5FA"/>
                </a:solidFill>
                <a:latin typeface="Meiryo" pitchFamily="34" charset="0"/>
                <a:ea typeface="Meiryo" pitchFamily="34" charset="-122"/>
                <a:cs typeface="Meiryo" pitchFamily="34" charset="-120"/>
              </a:rPr>
              <a:t>PROMISE 02 ｜ プロとして言い切る・めちゃ応援する</a:t>
            </a:r>
            <a:endParaRPr lang="en-US" sz="1000" dirty="0"/>
          </a:p>
        </p:txBody>
      </p:sp>
      <p:sp>
        <p:nvSpPr>
          <p:cNvPr id="11" name="Text 8"/>
          <p:cNvSpPr/>
          <p:nvPr/>
        </p:nvSpPr>
        <p:spPr>
          <a:xfrm>
            <a:off x="4343400" y="2816352"/>
            <a:ext cx="4206240" cy="594360"/>
          </a:xfrm>
          <a:prstGeom prst="rect">
            <a:avLst/>
          </a:prstGeom>
          <a:noFill/>
          <a:ln/>
        </p:spPr>
        <p:txBody>
          <a:bodyPr wrap="square" rtlCol="0" anchor="ctr"/>
          <a:lstStyle/>
          <a:p>
            <a:pPr indent="0" marL="0">
              <a:lnSpc>
                <a:spcPts val="1300"/>
              </a:lnSpc>
              <a:buNone/>
            </a:pPr>
            <a:r>
              <a:rPr lang="en-US" sz="900" dirty="0">
                <a:solidFill>
                  <a:srgbClr val="CBD5E1"/>
                </a:solidFill>
                <a:latin typeface="Meiryo" pitchFamily="34" charset="0"/>
                <a:ea typeface="Meiryo" pitchFamily="34" charset="-122"/>
                <a:cs typeface="Meiryo" pitchFamily="34" charset="-120"/>
              </a:rPr>
              <a:t>迷いや不安を断ち切り、次の行動へ踏み出せる判断軸を示し、全力で応援します。</a:t>
            </a:r>
            <a:endParaRPr lang="en-US" sz="900" dirty="0"/>
          </a:p>
        </p:txBody>
      </p:sp>
      <p:sp>
        <p:nvSpPr>
          <p:cNvPr id="12" name="Shape 9"/>
          <p:cNvSpPr/>
          <p:nvPr/>
        </p:nvSpPr>
        <p:spPr>
          <a:xfrm>
            <a:off x="4160520" y="3575304"/>
            <a:ext cx="4526280" cy="1078992"/>
          </a:xfrm>
          <a:prstGeom prst="rect">
            <a:avLst/>
          </a:prstGeom>
          <a:solidFill>
            <a:srgbClr val="1E293B"/>
          </a:solidFill>
          <a:ln w="12700">
            <a:solidFill>
              <a:srgbClr val="3B82F6"/>
            </a:solidFill>
            <a:prstDash val="solid"/>
          </a:ln>
        </p:spPr>
      </p:sp>
      <p:sp>
        <p:nvSpPr>
          <p:cNvPr id="13" name="Text 10"/>
          <p:cNvSpPr/>
          <p:nvPr/>
        </p:nvSpPr>
        <p:spPr>
          <a:xfrm>
            <a:off x="4343400" y="3685032"/>
            <a:ext cx="4206240" cy="320040"/>
          </a:xfrm>
          <a:prstGeom prst="rect">
            <a:avLst/>
          </a:prstGeom>
          <a:noFill/>
          <a:ln/>
        </p:spPr>
        <p:txBody>
          <a:bodyPr wrap="square" rtlCol="0" anchor="ctr"/>
          <a:lstStyle/>
          <a:p>
            <a:pPr indent="0" marL="0">
              <a:buNone/>
            </a:pPr>
            <a:r>
              <a:rPr lang="en-US" sz="1000" b="1" dirty="0">
                <a:solidFill>
                  <a:srgbClr val="60A5FA"/>
                </a:solidFill>
                <a:latin typeface="Meiryo" pitchFamily="34" charset="0"/>
                <a:ea typeface="Meiryo" pitchFamily="34" charset="-122"/>
                <a:cs typeface="Meiryo" pitchFamily="34" charset="-120"/>
              </a:rPr>
              <a:t>PROMISE 03 ｜ 純度100%の想いを届ける</a:t>
            </a:r>
            <a:endParaRPr lang="en-US" sz="1000" dirty="0"/>
          </a:p>
        </p:txBody>
      </p:sp>
      <p:sp>
        <p:nvSpPr>
          <p:cNvPr id="14" name="Text 11"/>
          <p:cNvSpPr/>
          <p:nvPr/>
        </p:nvSpPr>
        <p:spPr>
          <a:xfrm>
            <a:off x="4343400" y="3986784"/>
            <a:ext cx="4206240" cy="594360"/>
          </a:xfrm>
          <a:prstGeom prst="rect">
            <a:avLst/>
          </a:prstGeom>
          <a:noFill/>
          <a:ln/>
        </p:spPr>
        <p:txBody>
          <a:bodyPr wrap="square" rtlCol="0" anchor="ctr"/>
          <a:lstStyle/>
          <a:p>
            <a:pPr indent="0" marL="0">
              <a:lnSpc>
                <a:spcPts val="1300"/>
              </a:lnSpc>
              <a:buNone/>
            </a:pPr>
            <a:r>
              <a:rPr lang="en-US" sz="900" dirty="0">
                <a:solidFill>
                  <a:srgbClr val="CBD5E1"/>
                </a:solidFill>
                <a:latin typeface="Meiryo" pitchFamily="34" charset="0"/>
                <a:ea typeface="Meiryo" pitchFamily="34" charset="-122"/>
                <a:cs typeface="Meiryo" pitchFamily="34" charset="-120"/>
              </a:rPr>
              <a:t>他の誰でもない、あなただけの本音と強みを最高峰のシナリオへ昇華させます。</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457200"/>
            <a:ext cx="2011680" cy="237744"/>
          </a:xfrm>
          <a:prstGeom prst="rect">
            <a:avLst/>
          </a:prstGeom>
          <a:solidFill>
            <a:srgbClr val="1E293B"/>
          </a:solidFill>
          <a:ln w="12700">
            <a:solidFill>
              <a:srgbClr val="3B82F6"/>
            </a:solidFill>
            <a:prstDash val="solid"/>
          </a:ln>
        </p:spPr>
      </p:sp>
      <p:sp>
        <p:nvSpPr>
          <p:cNvPr id="3" name="Text 1"/>
          <p:cNvSpPr/>
          <p:nvPr/>
        </p:nvSpPr>
        <p:spPr>
          <a:xfrm>
            <a:off x="457200" y="457200"/>
            <a:ext cx="2011680" cy="237744"/>
          </a:xfrm>
          <a:prstGeom prst="rect">
            <a:avLst/>
          </a:prstGeom>
          <a:noFill/>
          <a:ln/>
        </p:spPr>
        <p:txBody>
          <a:bodyPr wrap="square" rtlCol="0" anchor="ctr"/>
          <a:lstStyle/>
          <a:p>
            <a:pPr algn="ctr" indent="0" marL="0">
              <a:buNone/>
            </a:pPr>
            <a:r>
              <a:rPr lang="en-US" sz="850" b="1" dirty="0">
                <a:solidFill>
                  <a:srgbClr val="60A5FA"/>
                </a:solidFill>
                <a:latin typeface="Meiryo" pitchFamily="34" charset="0"/>
                <a:ea typeface="Meiryo" pitchFamily="34" charset="-122"/>
                <a:cs typeface="Meiryo" pitchFamily="34" charset="-120"/>
              </a:rPr>
              <a:t>NEXT STEP</a:t>
            </a:r>
            <a:endParaRPr lang="en-US" sz="850" dirty="0"/>
          </a:p>
        </p:txBody>
      </p:sp>
      <p:sp>
        <p:nvSpPr>
          <p:cNvPr id="4" name="Text 2"/>
          <p:cNvSpPr/>
          <p:nvPr/>
        </p:nvSpPr>
        <p:spPr>
          <a:xfrm>
            <a:off x="457200" y="777240"/>
            <a:ext cx="4297680" cy="548640"/>
          </a:xfrm>
          <a:prstGeom prst="rect">
            <a:avLst/>
          </a:prstGeom>
          <a:noFill/>
          <a:ln/>
        </p:spPr>
        <p:txBody>
          <a:bodyPr wrap="square"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まずは、一度「　診断セッション　」しましょう。</a:t>
            </a:r>
            <a:endParaRPr lang="en-US" sz="1600" dirty="0"/>
          </a:p>
        </p:txBody>
      </p:sp>
      <p:sp>
        <p:nvSpPr>
          <p:cNvPr id="5" name="Shape 3"/>
          <p:cNvSpPr/>
          <p:nvPr/>
        </p:nvSpPr>
        <p:spPr>
          <a:xfrm>
            <a:off x="457200" y="1417320"/>
            <a:ext cx="4297680" cy="1645920"/>
          </a:xfrm>
          <a:prstGeom prst="rect">
            <a:avLst/>
          </a:prstGeom>
          <a:solidFill>
            <a:srgbClr val="1E293B"/>
          </a:solidFill>
          <a:ln w="19050">
            <a:solidFill>
              <a:srgbClr val="F59E0B"/>
            </a:solidFill>
            <a:prstDash val="solid"/>
          </a:ln>
        </p:spPr>
      </p:sp>
      <p:sp>
        <p:nvSpPr>
          <p:cNvPr id="6" name="Text 4"/>
          <p:cNvSpPr/>
          <p:nvPr/>
        </p:nvSpPr>
        <p:spPr>
          <a:xfrm>
            <a:off x="640080" y="1554480"/>
            <a:ext cx="3931920" cy="274320"/>
          </a:xfrm>
          <a:prstGeom prst="rect">
            <a:avLst/>
          </a:prstGeom>
          <a:noFill/>
          <a:ln/>
        </p:spPr>
        <p:txBody>
          <a:bodyPr wrap="square" rtlCol="0" anchor="ctr"/>
          <a:lstStyle/>
          <a:p>
            <a:pPr indent="0" marL="0">
              <a:buNone/>
            </a:pPr>
            <a:r>
              <a:rPr lang="en-US" sz="1100" b="1" dirty="0">
                <a:solidFill>
                  <a:srgbClr val="F59E0B"/>
                </a:solidFill>
                <a:latin typeface="Meiryo" pitchFamily="34" charset="0"/>
                <a:ea typeface="Meiryo" pitchFamily="34" charset="-122"/>
                <a:cs typeface="Meiryo" pitchFamily="34" charset="-120"/>
              </a:rPr>
              <a:t>【初回限定】 プレゼン &amp; 資料 30分オンライン壁打ち診断</a:t>
            </a:r>
            <a:endParaRPr lang="en-US" sz="1100" dirty="0"/>
          </a:p>
        </p:txBody>
      </p:sp>
      <p:sp>
        <p:nvSpPr>
          <p:cNvPr id="7" name="Text 5"/>
          <p:cNvSpPr/>
          <p:nvPr/>
        </p:nvSpPr>
        <p:spPr>
          <a:xfrm>
            <a:off x="640080" y="1874520"/>
            <a:ext cx="3931920" cy="1005840"/>
          </a:xfrm>
          <a:prstGeom prst="rect">
            <a:avLst/>
          </a:prstGeom>
          <a:noFill/>
          <a:ln/>
        </p:spPr>
        <p:txBody>
          <a:bodyPr wrap="square" rtlCol="0" anchor="ctr"/>
          <a:lstStyle/>
          <a:p>
            <a:pPr indent="0" marL="0">
              <a:lnSpc>
                <a:spcPts val="1500"/>
              </a:lnSpc>
              <a:buNone/>
            </a:pPr>
            <a:r>
              <a:rPr lang="en-US" sz="950" dirty="0">
                <a:solidFill>
                  <a:srgbClr val="E2E8F0"/>
                </a:solidFill>
                <a:latin typeface="Meiryo" pitchFamily="34" charset="0"/>
                <a:ea typeface="Meiryo" pitchFamily="34" charset="-122"/>
                <a:cs typeface="Meiryo" pitchFamily="34" charset="-120"/>
              </a:rPr>
              <a:t>現在のプレゼン資料（メモ、原稿、資料、思い）を拝見し、どこをどう組み替えれば劇的に化けるかをその場で具体的にお伝えします。</a:t>
            </a:r>
            <a:endParaRPr lang="en-US" sz="950" dirty="0"/>
          </a:p>
        </p:txBody>
      </p:sp>
      <p:sp>
        <p:nvSpPr>
          <p:cNvPr id="8" name="Shape 6"/>
          <p:cNvSpPr/>
          <p:nvPr/>
        </p:nvSpPr>
        <p:spPr>
          <a:xfrm>
            <a:off x="457200" y="3200400"/>
            <a:ext cx="4297680" cy="1463040"/>
          </a:xfrm>
          <a:prstGeom prst="rect">
            <a:avLst/>
          </a:prstGeom>
          <a:solidFill>
            <a:srgbClr val="0F172A"/>
          </a:solidFill>
          <a:ln w="12700">
            <a:solidFill>
              <a:srgbClr val="334155"/>
            </a:solidFill>
            <a:prstDash val="solid"/>
          </a:ln>
        </p:spPr>
      </p:sp>
      <p:sp>
        <p:nvSpPr>
          <p:cNvPr id="9" name="Text 7"/>
          <p:cNvSpPr/>
          <p:nvPr/>
        </p:nvSpPr>
        <p:spPr>
          <a:xfrm>
            <a:off x="640080" y="3337560"/>
            <a:ext cx="3931920" cy="228600"/>
          </a:xfrm>
          <a:prstGeom prst="rect">
            <a:avLst/>
          </a:prstGeom>
          <a:noFill/>
          <a:ln/>
        </p:spPr>
        <p:txBody>
          <a:bodyPr wrap="square" rtlCol="0" anchor="ctr"/>
          <a:lstStyle/>
          <a:p>
            <a:pPr indent="0" marL="0">
              <a:buNone/>
            </a:pPr>
            <a:r>
              <a:rPr lang="en-US" sz="950" b="1" dirty="0">
                <a:solidFill>
                  <a:srgbClr val="94A3B8"/>
                </a:solidFill>
                <a:latin typeface="Meiryo" pitchFamily="34" charset="0"/>
                <a:ea typeface="Meiryo" pitchFamily="34" charset="-122"/>
                <a:cs typeface="Meiryo" pitchFamily="34" charset="-120"/>
              </a:rPr>
              <a:t>お問い合わせ・ご相談窓口</a:t>
            </a:r>
            <a:endParaRPr lang="en-US" sz="950" dirty="0"/>
          </a:p>
        </p:txBody>
      </p:sp>
      <p:sp>
        <p:nvSpPr>
          <p:cNvPr id="10" name="Text 8"/>
          <p:cNvSpPr/>
          <p:nvPr/>
        </p:nvSpPr>
        <p:spPr>
          <a:xfrm>
            <a:off x="640080" y="3611880"/>
            <a:ext cx="3931920" cy="868680"/>
          </a:xfrm>
          <a:prstGeom prst="rect">
            <a:avLst/>
          </a:prstGeom>
          <a:noFill/>
          <a:ln/>
        </p:spPr>
        <p:txBody>
          <a:bodyPr wrap="square" rtlCol="0" anchor="ctr"/>
          <a:lstStyle/>
          <a:p>
            <a:pPr indent="0" marL="0">
              <a:lnSpc>
                <a:spcPts val="1500"/>
              </a:lnSpc>
              <a:buNone/>
            </a:pPr>
            <a:r>
              <a:rPr lang="en-US" sz="1000" dirty="0">
                <a:solidFill>
                  <a:srgbClr val="FFFFFF"/>
                </a:solidFill>
                <a:latin typeface="Meiryo" pitchFamily="34" charset="0"/>
                <a:ea typeface="Meiryo" pitchFamily="34" charset="-122"/>
                <a:cs typeface="Meiryo" pitchFamily="34" charset="-120"/>
              </a:rPr>
              <a:t>プレゼン演出家 西川佳孝 公式窓口</a:t>
            </a:r>
            <a:endParaRPr lang="en-US" sz="1000" dirty="0"/>
          </a:p>
          <a:p>
            <a:pPr indent="0" marL="0">
              <a:lnSpc>
                <a:spcPts val="1500"/>
              </a:lnSpc>
              <a:buNone/>
            </a:pPr>
            <a:r>
              <a:rPr lang="en-US" sz="1000" dirty="0">
                <a:solidFill>
                  <a:srgbClr val="FFFFFF"/>
                </a:solidFill>
                <a:latin typeface="Meiryo" pitchFamily="34" charset="0"/>
                <a:ea typeface="Meiryo" pitchFamily="34" charset="-122"/>
                <a:cs typeface="Meiryo" pitchFamily="34" charset="-120"/>
              </a:rPr>
              <a:t>Email: contact@example.com</a:t>
            </a:r>
            <a:endParaRPr lang="en-US" sz="1000" dirty="0"/>
          </a:p>
          <a:p>
            <a:pPr indent="0" marL="0">
              <a:lnSpc>
                <a:spcPts val="1500"/>
              </a:lnSpc>
              <a:buNone/>
            </a:pPr>
            <a:r>
              <a:rPr lang="en-US" sz="1000" dirty="0">
                <a:solidFill>
                  <a:srgbClr val="FFFFFF"/>
                </a:solidFill>
                <a:latin typeface="Meiryo" pitchFamily="34" charset="0"/>
                <a:ea typeface="Meiryo" pitchFamily="34" charset="-122"/>
                <a:cs typeface="Meiryo" pitchFamily="34" charset="-120"/>
              </a:rPr>
              <a:t>Web: https://example.com</a:t>
            </a:r>
            <a:endParaRPr lang="en-US" sz="1000" dirty="0"/>
          </a:p>
        </p:txBody>
      </p:sp>
      <p:pic>
        <p:nvPicPr>
          <p:cNvPr id="11" name="Image 0" descr="C:\Users\banan\OneDrive\OneDrive\Antigravity西川佳孝_＠ゴリラ\AI_rituto\成功例を渡せ\images\future_light_gateway_1787442584673.jpg">    </p:cNvPr>
          <p:cNvPicPr>
            <a:picLocks noChangeAspect="1"/>
          </p:cNvPicPr>
          <p:nvPr/>
        </p:nvPicPr>
        <p:blipFill>
          <a:blip r:embed="rId1"/>
          <a:stretch>
            <a:fillRect/>
          </a:stretch>
        </p:blipFill>
        <p:spPr>
          <a:xfrm>
            <a:off x="4937760" y="457200"/>
            <a:ext cx="3749040" cy="4206240"/>
          </a:xfrm>
          <a:prstGeom prst="ellipse">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Presentation Director - 営業資料 (Visual Edition)</dc:title>
  <dc:subject>PptxGenJS Presentation</dc:subject>
  <dc:creator>PptxGenJS</dc:creator>
  <cp:lastModifiedBy>PptxGenJS</cp:lastModifiedBy>
  <cp:revision>1</cp:revision>
  <dcterms:created xsi:type="dcterms:W3CDTF">2026-08-22T23:50:55Z</dcterms:created>
  <dcterms:modified xsi:type="dcterms:W3CDTF">2026-08-22T23:50:55Z</dcterms:modified>
</cp:coreProperties>
</file>