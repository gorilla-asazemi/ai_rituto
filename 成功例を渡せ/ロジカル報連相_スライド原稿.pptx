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管理から解放されて自由になる！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ロジカル報連相 5日間集中講座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7FAF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〜 スライド用テキスト・講義資料 原稿版 〜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報連相の問題は「報告」で9割決まる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1-1：なぜ、あなたの報連相はストレスを生むのか？ / 1-2：報告の目的＝「自由を獲得すること」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1-1 | 報連相の真の問題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なぜ、あなたの報連相はストレスを生むのか？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10360152" cy="2011680"/>
          </a:xfrm>
          <a:prstGeom prst="roundRect">
            <a:avLst>
              <a:gd name="adj" fmla="val 4545"/>
            </a:avLst>
          </a:prstGeom>
          <a:solidFill>
            <a:srgbClr val="EBF8FF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9966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100人中100人、言葉の定義がバラバラ！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023360"/>
            <a:ext cx="10360152" cy="1645920"/>
          </a:xfrm>
          <a:prstGeom prst="roundRect">
            <a:avLst>
              <a:gd name="adj" fmla="val 5556"/>
            </a:avLst>
          </a:prstGeom>
          <a:solidFill>
            <a:srgbClr val="EDF2F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教科書通りのマナーを覚えても、現場の悩みはゼロにならない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1-1 | 現場のすれ違い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誰も幸せにならない「あるある」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4937760" cy="2560320"/>
          </a:xfrm>
          <a:prstGeom prst="roundRect">
            <a:avLst>
              <a:gd name="adj" fmla="val 3571"/>
            </a:avLst>
          </a:prstGeom>
          <a:solidFill>
            <a:srgbClr val="FFF5F5"/>
          </a:solidFill>
          <a:ln w="1905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303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【上司のホンネ】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3774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「あれ、どうなった？」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（不安・管理したい）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4937760" cy="2560320"/>
          </a:xfrm>
          <a:prstGeom prst="roundRect">
            <a:avLst>
              <a:gd name="adj" fmla="val 3571"/>
            </a:avLst>
          </a:prstGeom>
          <a:solidFill>
            <a:srgbClr val="EDF2F7"/>
          </a:solidFill>
          <a:ln w="19050">
            <a:solidFill>
              <a:srgbClr val="7180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18096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【部下のホンネ】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「今やってます！」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（監視されていてウザい）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14400" y="4480560"/>
            <a:ext cx="10360152" cy="1463040"/>
          </a:xfrm>
          <a:prstGeom prst="roundRect">
            <a:avLst>
              <a:gd name="adj" fmla="val 6250"/>
            </a:avLst>
          </a:prstGeom>
          <a:solidFill>
            <a:srgbClr val="1A365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75488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結論：お互いにメリットが分かっていないからスレ違う！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1-2 | 本日の再定義①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報告の目的 ＝「自由を獲得すること」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10360152" cy="2103120"/>
          </a:xfrm>
          <a:prstGeom prst="roundRect">
            <a:avLst>
              <a:gd name="adj" fmla="val 4348"/>
            </a:avLst>
          </a:prstGeom>
          <a:solidFill>
            <a:srgbClr val="F0FFF4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03120"/>
            <a:ext cx="9966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674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【結論】 報告 ＝ 自由を獲得すること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914400" y="4114800"/>
            <a:ext cx="10360152" cy="1645920"/>
          </a:xfrm>
          <a:prstGeom prst="roundRect">
            <a:avLst>
              <a:gd name="adj" fmla="val 5556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48056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報告すればするほど、上司は安心し、管理されなくなる！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1-2 | マインドセット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魔法のフレーズ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10360152" cy="2194560"/>
          </a:xfrm>
          <a:prstGeom prst="roundRect">
            <a:avLst>
              <a:gd name="adj" fmla="val 4167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10312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「報告しまくって、自分を自由にしてあげよう」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206240"/>
            <a:ext cx="10360152" cy="1645920"/>
          </a:xfrm>
          <a:prstGeom prst="roundRect">
            <a:avLst>
              <a:gd name="adj" fmla="val 5556"/>
            </a:avLst>
          </a:prstGeom>
          <a:solidFill>
            <a:srgbClr val="EDF2F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57200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自分のメリット（自由）が分かって、初めて自分ごとになる！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報連相は「過去・現在・未来」の時間軸で再定義する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2-1：時系列で覚える / 2-2：過去の報告を爆速で終わらせる理由 / 2-3：上司の脳内エネルギーの使いドコロ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2-1 | 本日の再定義②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もう意味を暗記するな！報連相は「時系列」で覚える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【結論】 報連相は「時間軸（時系列）」で覚える！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EDF2F7"/>
          </a:solidFill>
          <a:ln w="25400">
            <a:solidFill>
              <a:srgbClr val="7180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報告 ＝ 過去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（起きた事実）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EBF8FF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連絡 ＝ 現在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3840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（最新情報にアップデート）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46720" y="228600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F0FFF4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92608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相談 ＝ 未来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138160" y="38404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（これからの課題解決）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2-2 | 【最重要】報告を爆速で終わらせる理由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なぜ過去の報告を急ぐのか？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10360152" cy="1463040"/>
          </a:xfrm>
          <a:prstGeom prst="roundRect">
            <a:avLst>
              <a:gd name="adj" fmla="val 6250"/>
            </a:avLst>
          </a:prstGeom>
          <a:solidFill>
            <a:srgbClr val="FFF5F5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5303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「過去」に時間を奪われるチームは勝てない！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3383280"/>
            <a:ext cx="10360152" cy="1280160"/>
          </a:xfrm>
          <a:prstGeom prst="roundRect">
            <a:avLst>
              <a:gd name="adj" fmla="val 7143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6576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【図解】 報告（過去）を爆速で終わらせる  ➔  相談（未来）の時間を最大化する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4937760"/>
            <a:ext cx="10360152" cy="1097280"/>
          </a:xfrm>
          <a:prstGeom prst="roundRect">
            <a:avLst>
              <a:gd name="adj" fmla="val 8333"/>
            </a:avLst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1206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結論：未来の課題解決が増えるから、上司も部下もWin-Win！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2-3 | 上司の活用術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上司の脳内エネルギーを「未来（課題解決）」に使わせる技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FF5F5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❌ 【NGな使い方】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確認や説教で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上司の脳内エネルギーを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消費させる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0FFF4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11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674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⭕ 【OKな使い方】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9260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過去をサクッと伝えて、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上司の知恵を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「未来の課題解決」に使う！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報連相は「事実」と「意見」の2つに分ける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3-1：ミスの99%は事実と意見のごちゃまぜ / 3-2：黄金ルールと賢い相談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3-1 | コミュニケーションミスの真犯人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ミスの99%は「事実と意見のごちゃまぜ」から起きる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10360152" cy="1371600"/>
          </a:xfrm>
          <a:prstGeom prst="roundRect">
            <a:avLst>
              <a:gd name="adj" fmla="val 6667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2024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「事実」と「意見」が複雑骨折している！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10360152" cy="1463040"/>
          </a:xfrm>
          <a:prstGeom prst="roundRect">
            <a:avLst>
              <a:gd name="adj" fmla="val 6250"/>
            </a:avLst>
          </a:prstGeom>
          <a:solidFill>
            <a:srgbClr val="EDF2F7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7472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【よくあるケース】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「売上が未達です。（事実）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価格が高いのが原因です。（※部下の意見）」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4937760"/>
            <a:ext cx="10360152" cy="1097280"/>
          </a:xfrm>
          <a:prstGeom prst="roundRect">
            <a:avLst>
              <a:gd name="adj" fmla="val 8333"/>
            </a:avLst>
          </a:prstGeom>
          <a:solidFill>
            <a:srgbClr val="FFF5F5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1206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5303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問題：事実と意見が混ざると、上司は正しく課題認識できない！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3-2 | 本日の再定義③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黄金ルール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10360152" cy="2103120"/>
          </a:xfrm>
          <a:prstGeom prst="roundRect">
            <a:avLst>
              <a:gd name="adj" fmla="val 4348"/>
            </a:avLst>
          </a:prstGeom>
          <a:solidFill>
            <a:srgbClr val="EBF8FF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【黄金ルール 1】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報告に「意見」を混ぜるな！（事実だけでいい）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4023360"/>
            <a:ext cx="10360152" cy="2103120"/>
          </a:xfrm>
          <a:prstGeom prst="roundRect">
            <a:avLst>
              <a:gd name="adj" fmla="val 4348"/>
            </a:avLst>
          </a:prstGeom>
          <a:solidFill>
            <a:srgbClr val="F0FFF4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29768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674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【黄金ルール 2】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27674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相談に「意見」を持ってこい！（自分なりに考える）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3-2 | 実践テクニック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ダメな相談 vs 賢い相談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FF5F5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❌ 【ダメな相談】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「どうしたらいいですか？」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2D374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（無責任な丸投げ）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309360" y="164592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0FFF4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11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674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⭕ 【賢い相談】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29260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「私は〇〇だと思いますが、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どうでしょうか？」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（自分の意見を持参）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上司の「あれ、どうなった？」を激減させる回数とタイミング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4-1：多頻度×早期のメリットとプロの技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4-1 | 報告の回数とタイミング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なぜ、1回の完璧な報告より「多頻度×早期」なのか？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10360152" cy="1828800"/>
          </a:xfrm>
          <a:prstGeom prst="roundRect">
            <a:avLst>
              <a:gd name="adj" fmla="val 5000"/>
            </a:avLst>
          </a:prstGeom>
          <a:solidFill>
            <a:srgbClr val="FFF5F5"/>
          </a:solidFill>
          <a:ln w="25400">
            <a:solidFill>
              <a:srgbClr val="E53E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10312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303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【警報】 上司の「あれ、どうなった？」は報告不足のサイン！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10360152" cy="2011680"/>
          </a:xfrm>
          <a:prstGeom prst="roundRect">
            <a:avLst>
              <a:gd name="adj" fmla="val 4545"/>
            </a:avLst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20624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【結論】 100点の完成品を待つな。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「途中で出す」のがプロの技！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4-1 | 圧倒的メリット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多頻度×早期のメリット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10360152" cy="2011680"/>
          </a:xfrm>
          <a:prstGeom prst="roundRect">
            <a:avLst>
              <a:gd name="adj" fmla="val 4545"/>
            </a:avLst>
          </a:prstGeom>
          <a:solidFill>
            <a:srgbClr val="EBF8FF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1168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【メリット 1】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上司の不安が激減する！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931920"/>
            <a:ext cx="10360152" cy="2011680"/>
          </a:xfrm>
          <a:prstGeom prst="roundRect">
            <a:avLst>
              <a:gd name="adj" fmla="val 4545"/>
            </a:avLst>
          </a:prstGeom>
          <a:solidFill>
            <a:srgbClr val="F0FFF4"/>
          </a:solidFill>
          <a:ln w="25400">
            <a:solidFill>
              <a:srgbClr val="38A1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297680"/>
            <a:ext cx="996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674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【メリット 2】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27674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手戻り（やり直し）のダメージが最小限になる！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5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一瞬で信頼と応援を勝ち取る「1%の速報」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5-1：100点の詳細報告より1%の速報 / まとめ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5-1 | 応援される人の共通点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100点の詳細報告より「1%の速報」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10360152" cy="1463040"/>
          </a:xfrm>
          <a:prstGeom prst="roundRect">
            <a:avLst>
              <a:gd name="adj" fmla="val 6250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82880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【結論】 100点の詳細報告より「1%の速報」！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10360152" cy="1371600"/>
          </a:xfrm>
          <a:prstGeom prst="roundRect">
            <a:avLst>
              <a:gd name="adj" fmla="val 6667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7472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【実践①】 直後のチャット1通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「プレゼン終わりました！感触良しです。詳細は後ほど」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4846320"/>
            <a:ext cx="10360152" cy="1371600"/>
          </a:xfrm>
          <a:prstGeom prst="roundRect">
            <a:avLst>
              <a:gd name="adj" fmla="val 6667"/>
            </a:avLst>
          </a:prstGeom>
          <a:solidFill>
            <a:srgbClr val="F0FFF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029200"/>
            <a:ext cx="9966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674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【実践②】 相談後の結果報告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7674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「アドバイス通りやったら上手くいきました！」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D6B2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DAY 5-1 | 講座のまとめ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10360152" cy="3840480"/>
          </a:xfrm>
          <a:prstGeom prst="roundRect">
            <a:avLst>
              <a:gd name="adj" fmla="val 2381"/>
            </a:avLst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560320"/>
            <a:ext cx="9966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速報ができる人が、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社内でも社外でも愛され、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自由を手に入れる！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2026-08-18T07:18:34Z</dcterms:created>
  <dcterms:modified xsi:type="dcterms:W3CDTF">2026-08-18T07:18:34Z</dcterms:modified>
</cp:coreProperties>
</file>